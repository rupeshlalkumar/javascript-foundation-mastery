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3183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2234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2440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8F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 •  Build  •  Share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5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Foundation Mastery — Beginner Level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52628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24406E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F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48646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Hours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80360" y="452628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24406E"/>
          </a:solidFill>
          <a:ln/>
        </p:spPr>
      </p:sp>
      <p:sp>
        <p:nvSpPr>
          <p:cNvPr id="14" name="Text 12"/>
          <p:cNvSpPr/>
          <p:nvPr/>
        </p:nvSpPr>
        <p:spPr>
          <a:xfrm>
            <a:off x="3044952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F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44952" y="48646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452628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24406E"/>
          </a:solidFill>
          <a:ln/>
        </p:spPr>
      </p:sp>
      <p:sp>
        <p:nvSpPr>
          <p:cNvPr id="17" name="Text 15"/>
          <p:cNvSpPr/>
          <p:nvPr/>
        </p:nvSpPr>
        <p:spPr>
          <a:xfrm>
            <a:off x="5193792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F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93792" y="48646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5806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6035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Rupesh Lal Kumar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73752" y="64922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01 / 21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64792" cy="292608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DEFINITION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Conditions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02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1274552" cy="548640"/>
          </a:xfrm>
          <a:prstGeom prst="roundRect">
            <a:avLst>
              <a:gd name="adj" fmla="val 8333"/>
            </a:avLst>
          </a:prstGeom>
          <a:solidFill>
            <a:srgbClr val="FFF3B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32588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are used to make decisions in JavaScript.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468880" cy="594360"/>
          </a:xfrm>
          <a:prstGeom prst="roundRect">
            <a:avLst>
              <a:gd name="adj" fmla="val 13846"/>
            </a:avLst>
          </a:prstGeom>
          <a:solidFill>
            <a:srgbClr val="1E56A0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1488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44368" y="2446020"/>
            <a:ext cx="28346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46120" y="2148840"/>
            <a:ext cx="2468880" cy="594360"/>
          </a:xfrm>
          <a:prstGeom prst="roundRect">
            <a:avLst>
              <a:gd name="adj" fmla="val 13846"/>
            </a:avLst>
          </a:prstGeom>
          <a:solidFill>
            <a:srgbClr val="6C4AB6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21488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33288" y="2446020"/>
            <a:ext cx="28346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35040" y="2148840"/>
            <a:ext cx="2468880" cy="594360"/>
          </a:xfrm>
          <a:prstGeom prst="roundRect">
            <a:avLst>
              <a:gd name="adj" fmla="val 13846"/>
            </a:avLst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21488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522208" y="2446020"/>
            <a:ext cx="28346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23960" y="2148840"/>
            <a:ext cx="2468880" cy="594360"/>
          </a:xfrm>
          <a:prstGeom prst="roundRect">
            <a:avLst>
              <a:gd name="adj" fmla="val 13846"/>
            </a:avLst>
          </a:prstGeom>
          <a:solidFill>
            <a:srgbClr val="1E7145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823960" y="21488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3611880" cy="2926080"/>
          </a:xfrm>
          <a:prstGeom prst="roundRect">
            <a:avLst>
              <a:gd name="adj" fmla="val 2813"/>
            </a:avLst>
          </a:prstGeom>
          <a:solidFill>
            <a:srgbClr val="EAF1F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3209544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Learning Objective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3538728"/>
            <a:ext cx="320954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JavaScript makes decisions using if, if...else, and switch statements, and apply them to real business logic.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51960" y="3063240"/>
            <a:ext cx="3611880" cy="2926080"/>
          </a:xfrm>
          <a:prstGeom prst="roundRect">
            <a:avLst>
              <a:gd name="adj" fmla="val 2813"/>
            </a:avLst>
          </a:prstGeom>
          <a:solidFill>
            <a:srgbClr val="E9F7EF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53128" y="3209544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Why This Matters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53128" y="3538728"/>
            <a:ext cx="320954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real application — login, payment, eligibility — depends on decision-making logic. Conditions are the foundation of program flow.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46720" y="3063240"/>
            <a:ext cx="2770632" cy="2926080"/>
          </a:xfrm>
          <a:prstGeom prst="roundRect">
            <a:avLst>
              <a:gd name="adj" fmla="val 2970"/>
            </a:avLst>
          </a:prstGeom>
          <a:solidFill>
            <a:srgbClr val="F1ECFB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47888" y="3209544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Where Used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47888" y="3538728"/>
            <a:ext cx="2368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Systems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CRM &amp; LMS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E-Commerce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Banking &amp; Payroll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HRMS &amp; Dashboards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ERP Workflows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1E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 Map — JavaScript Conditions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03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0" y="292608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2926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286000" cy="502920"/>
          </a:xfrm>
          <a:prstGeom prst="roundRect">
            <a:avLst>
              <a:gd name="adj" fmla="val 16364"/>
            </a:avLst>
          </a:prstGeom>
          <a:solidFill>
            <a:srgbClr val="1E56A0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2286000" cy="960120"/>
          </a:xfrm>
          <a:prstGeom prst="roundRect">
            <a:avLst>
              <a:gd name="adj" fmla="val 8571"/>
            </a:avLst>
          </a:prstGeom>
          <a:solidFill>
            <a:srgbClr val="EAF1F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2157984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Decision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Executes when true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2286000" cy="502920"/>
          </a:xfrm>
          <a:prstGeom prst="roundRect">
            <a:avLst>
              <a:gd name="adj" fmla="val 16364"/>
            </a:avLst>
          </a:prstGeom>
          <a:solidFill>
            <a:srgbClr val="1E7145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if...else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2286000" cy="960120"/>
          </a:xfrm>
          <a:prstGeom prst="roundRect">
            <a:avLst>
              <a:gd name="adj" fmla="val 8571"/>
            </a:avLst>
          </a:prstGeom>
          <a:solidFill>
            <a:srgbClr val="E9F7EF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5038344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Outcomes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 / Fail logic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418320" y="1417320"/>
            <a:ext cx="2286000" cy="502920"/>
          </a:xfrm>
          <a:prstGeom prst="roundRect">
            <a:avLst>
              <a:gd name="adj" fmla="val 16364"/>
            </a:avLst>
          </a:prstGeom>
          <a:solidFill>
            <a:srgbClr val="6C4AB6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1832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418320" y="2011680"/>
            <a:ext cx="2286000" cy="960120"/>
          </a:xfrm>
          <a:prstGeom prst="roundRect">
            <a:avLst>
              <a:gd name="adj" fmla="val 8571"/>
            </a:avLst>
          </a:prstGeom>
          <a:solidFill>
            <a:srgbClr val="F1ECFB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19488" y="2157984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Multiple Choices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/ Menu / Day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418320" y="4297680"/>
            <a:ext cx="2286000" cy="502920"/>
          </a:xfrm>
          <a:prstGeom prst="roundRect">
            <a:avLst>
              <a:gd name="adj" fmla="val 16364"/>
            </a:avLst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41832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418320" y="4892040"/>
            <a:ext cx="2286000" cy="960120"/>
          </a:xfrm>
          <a:prstGeom prst="roundRect">
            <a:avLst>
              <a:gd name="adj" fmla="val 8571"/>
            </a:avLst>
          </a:prstGeom>
          <a:solidFill>
            <a:srgbClr val="FDEDE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19488" y="5038344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Comparison ==, ===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Logical &amp;&amp;, ||, !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 flipV="1">
            <a:off x="1600200" y="1691640"/>
            <a:ext cx="4480560" cy="1645920"/>
          </a:xfrm>
          <a:prstGeom prst="line">
            <a:avLst/>
          </a:prstGeom>
          <a:noFill/>
          <a:ln w="19050">
            <a:solidFill>
              <a:srgbClr val="B9C2D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600200" y="3337560"/>
            <a:ext cx="4480560" cy="1234440"/>
          </a:xfrm>
          <a:prstGeom prst="line">
            <a:avLst/>
          </a:prstGeom>
          <a:noFill/>
          <a:ln w="19050">
            <a:solidFill>
              <a:srgbClr val="B9C2D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 flipV="1">
            <a:off x="6080760" y="1691640"/>
            <a:ext cx="4480560" cy="1645920"/>
          </a:xfrm>
          <a:prstGeom prst="line">
            <a:avLst/>
          </a:prstGeom>
          <a:noFill/>
          <a:ln w="19050">
            <a:solidFill>
              <a:srgbClr val="B9C2D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080760" y="3337560"/>
            <a:ext cx="4480560" cy="1234440"/>
          </a:xfrm>
          <a:prstGeom prst="line">
            <a:avLst/>
          </a:prstGeom>
          <a:noFill/>
          <a:ln w="19050">
            <a:solidFill>
              <a:srgbClr val="B9C2D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160520" y="5806440"/>
            <a:ext cx="3840480" cy="411480"/>
          </a:xfrm>
          <a:prstGeom prst="roundRect">
            <a:avLst>
              <a:gd name="adj" fmla="val 11111"/>
            </a:avLst>
          </a:prstGeom>
          <a:solidFill>
            <a:srgbClr val="FFF3B0"/>
          </a:solidFill>
          <a:ln/>
        </p:spPr>
      </p:sp>
      <p:sp>
        <p:nvSpPr>
          <p:cNvPr id="30" name="Text 28"/>
          <p:cNvSpPr/>
          <p:nvPr/>
        </p:nvSpPr>
        <p:spPr>
          <a:xfrm>
            <a:off x="4270248" y="5806440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= Decision Making in Code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DIAGRAM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Diagram — Decision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04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468880" cy="594360"/>
          </a:xfrm>
          <a:prstGeom prst="roundRect">
            <a:avLst>
              <a:gd name="adj" fmla="val 13846"/>
            </a:avLst>
          </a:prstGeom>
          <a:solidFill>
            <a:srgbClr val="1E56A0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28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3F4F6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52344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business data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(age, marks, role)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35808" y="2125980"/>
            <a:ext cx="37490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29000" y="1828800"/>
            <a:ext cx="2468880" cy="594360"/>
          </a:xfrm>
          <a:prstGeom prst="roundRect">
            <a:avLst>
              <a:gd name="adj" fmla="val 13846"/>
            </a:avLst>
          </a:prstGeom>
          <a:solidFill>
            <a:srgbClr val="6C4AB6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1828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29000" y="260604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3F4F6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30168" y="2752344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expression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evaluated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16168" y="2125980"/>
            <a:ext cx="37490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09360" y="1828800"/>
            <a:ext cx="2468880" cy="594360"/>
          </a:xfrm>
          <a:prstGeom prst="roundRect">
            <a:avLst>
              <a:gd name="adj" fmla="val 13846"/>
            </a:avLst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828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260604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3F4F6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0528" y="2752344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determined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796528" y="2125980"/>
            <a:ext cx="37490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89720" y="1828800"/>
            <a:ext cx="2468880" cy="594360"/>
          </a:xfrm>
          <a:prstGeom prst="roundRect">
            <a:avLst>
              <a:gd name="adj" fmla="val 13846"/>
            </a:avLst>
          </a:prstGeom>
          <a:solidFill>
            <a:srgbClr val="1E7145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89720" y="1828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89720" y="260604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3F4F6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90888" y="2752344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output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produced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10607040" cy="1737360"/>
          </a:xfrm>
          <a:prstGeom prst="roundRect">
            <a:avLst>
              <a:gd name="adj" fmla="val 4737"/>
            </a:avLst>
          </a:prstGeom>
          <a:solidFill>
            <a:srgbClr val="FFF7D6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9808" y="4306824"/>
            <a:ext cx="1020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Idea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" y="4636008"/>
            <a:ext cx="102047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always resolves to a Boolean value — true or false. JavaScript uses that value to decide which block of code runs next. This single pipeline (Input → Condition → Decision → Result) powers every if, if...else, and switch statement in JavaScript.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64208" cy="292608"/>
          </a:xfrm>
          <a:prstGeom prst="roundRect">
            <a:avLst>
              <a:gd name="adj" fmla="val 50000"/>
            </a:avLst>
          </a:prstGeom>
          <a:solidFill>
            <a:srgbClr val="F1E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FLOWCHART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Flow — How Conditions Execute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05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920240"/>
            <a:ext cx="0" cy="4114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09160" y="2331720"/>
            <a:ext cx="2743200" cy="960120"/>
          </a:xfrm>
          <a:prstGeom prst="diamond">
            <a:avLst/>
          </a:prstGeom>
          <a:solidFill>
            <a:srgbClr val="F1ECFB"/>
          </a:solidFill>
          <a:ln w="19050">
            <a:solidFill>
              <a:srgbClr val="6C4A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3317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3291840"/>
            <a:ext cx="0" cy="3657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43200" y="3657600"/>
            <a:ext cx="33375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3657600"/>
            <a:ext cx="33375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743200" y="3657600"/>
            <a:ext cx="0" cy="502920"/>
          </a:xfrm>
          <a:prstGeom prst="line">
            <a:avLst/>
          </a:prstGeom>
          <a:noFill/>
          <a:ln w="25400">
            <a:solidFill>
              <a:srgbClr val="1E714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18320" y="3657600"/>
            <a:ext cx="0" cy="5029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463040" y="3401568"/>
            <a:ext cx="1280160" cy="365760"/>
          </a:xfrm>
          <a:prstGeom prst="roundRect">
            <a:avLst>
              <a:gd name="adj" fmla="val 22500"/>
            </a:avLst>
          </a:prstGeom>
          <a:solidFill>
            <a:srgbClr val="1E7145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63040" y="34015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32520" y="3401568"/>
            <a:ext cx="1280160" cy="365760"/>
          </a:xfrm>
          <a:prstGeom prst="roundRect">
            <a:avLst>
              <a:gd name="adj" fmla="val 22500"/>
            </a:avLst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32520" y="34015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463040" y="425196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E9F7EF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664208" y="439826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64208" y="472744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true block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code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92440" y="425196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FDEDE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93608" y="439826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/ Else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93608" y="472744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else block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skip entirely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017520" y="5440680"/>
            <a:ext cx="6126480" cy="502920"/>
          </a:xfrm>
          <a:prstGeom prst="roundRect">
            <a:avLst>
              <a:gd name="adj" fmla="val 9091"/>
            </a:avLst>
          </a:prstGeom>
          <a:solidFill>
            <a:srgbClr val="FFF3B0"/>
          </a:solidFill>
          <a:ln/>
        </p:spPr>
      </p:sp>
      <p:sp>
        <p:nvSpPr>
          <p:cNvPr id="28" name="Text 26"/>
          <p:cNvSpPr/>
          <p:nvPr/>
        </p:nvSpPr>
        <p:spPr>
          <a:xfrm>
            <a:off x="3127248" y="5440680"/>
            <a:ext cx="5907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condition ends in exactly one outcome — no in-between.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61288" cy="292608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06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F3F4F6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472184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Purpose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801368"/>
            <a:ext cx="3118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code only when a condition is true.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E1E1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31720"/>
            <a:ext cx="3520440" cy="292608"/>
          </a:xfrm>
          <a:prstGeom prst="roundRect">
            <a:avLst>
              <a:gd name="adj" fmla="val 25000"/>
            </a:avLst>
          </a:prstGeom>
          <a:solidFill>
            <a:srgbClr val="323233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78024"/>
            <a:ext cx="3520440" cy="146304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216" y="24323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" y="24323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950976" y="24323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syntax.js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271576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Code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E9F7EF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3849624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Business Examples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4178808"/>
            <a:ext cx="31181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 Verification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Validation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 Availability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 Success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Course Eligibility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60520" y="1325880"/>
            <a:ext cx="3794760" cy="3337560"/>
          </a:xfrm>
          <a:prstGeom prst="roundRect">
            <a:avLst>
              <a:gd name="adj" fmla="val 2192"/>
            </a:avLst>
          </a:prstGeom>
          <a:solidFill>
            <a:srgbClr val="1E1E1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60520" y="1325880"/>
            <a:ext cx="3794760" cy="292608"/>
          </a:xfrm>
          <a:prstGeom prst="roundRect">
            <a:avLst>
              <a:gd name="adj" fmla="val 25000"/>
            </a:avLst>
          </a:prstGeom>
          <a:solidFill>
            <a:srgbClr val="323233"/>
          </a:solidFill>
          <a:ln/>
        </p:spPr>
      </p:sp>
      <p:sp>
        <p:nvSpPr>
          <p:cNvPr id="23" name="Shape 21"/>
          <p:cNvSpPr/>
          <p:nvPr/>
        </p:nvSpPr>
        <p:spPr>
          <a:xfrm>
            <a:off x="4160520" y="1472184"/>
            <a:ext cx="3794760" cy="146304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24" name="Shape 22"/>
          <p:cNvSpPr/>
          <p:nvPr/>
        </p:nvSpPr>
        <p:spPr>
          <a:xfrm>
            <a:off x="4288536" y="14264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3"/>
          <p:cNvSpPr/>
          <p:nvPr/>
        </p:nvSpPr>
        <p:spPr>
          <a:xfrm>
            <a:off x="4471416" y="14264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4"/>
          <p:cNvSpPr/>
          <p:nvPr/>
        </p:nvSpPr>
        <p:spPr>
          <a:xfrm>
            <a:off x="4654296" y="14264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3258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example.js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61688" y="1709928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= </a:t>
            </a:r>
            <a:r>
              <a:rPr lang="en-US" sz="12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(age &gt;= </a:t>
            </a:r>
            <a:r>
              <a:rPr lang="en-US" sz="12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"Eligible to Vote"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160520" y="4800600"/>
            <a:ext cx="3794760" cy="123444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61688" y="4946904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Output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61688" y="5276088"/>
            <a:ext cx="3392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to Vote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38160" y="1325880"/>
            <a:ext cx="2679192" cy="4709160"/>
          </a:xfrm>
          <a:prstGeom prst="roundRect">
            <a:avLst>
              <a:gd name="adj" fmla="val 3072"/>
            </a:avLst>
          </a:prstGeom>
          <a:solidFill>
            <a:srgbClr val="EAF1F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39328" y="1472184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Concept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39328" y="1801368"/>
            <a:ext cx="2276856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 statement lets JavaScript branch program flow based on a Boolean condition, controlling exactly which code executes.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61288" cy="292608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if...else 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07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F3F4F6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472184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Purpose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801368"/>
            <a:ext cx="3118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one block when the condition is true and another block when it is false.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E1E1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31720"/>
            <a:ext cx="3520440" cy="292608"/>
          </a:xfrm>
          <a:prstGeom prst="roundRect">
            <a:avLst>
              <a:gd name="adj" fmla="val 25000"/>
            </a:avLst>
          </a:prstGeom>
          <a:solidFill>
            <a:srgbClr val="323233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78024"/>
            <a:ext cx="3520440" cy="146304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216" y="24323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" y="24323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950976" y="24323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syntax.js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271576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True Block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False Block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9F7EF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4215384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Business Examples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4544568"/>
            <a:ext cx="31181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 / Fail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Success / Failed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 Success / Failed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Available / Out of Stock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Access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60520" y="1325880"/>
            <a:ext cx="3794760" cy="3337560"/>
          </a:xfrm>
          <a:prstGeom prst="roundRect">
            <a:avLst>
              <a:gd name="adj" fmla="val 2192"/>
            </a:avLst>
          </a:prstGeom>
          <a:solidFill>
            <a:srgbClr val="1E1E1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60520" y="1325880"/>
            <a:ext cx="3794760" cy="292608"/>
          </a:xfrm>
          <a:prstGeom prst="roundRect">
            <a:avLst>
              <a:gd name="adj" fmla="val 25000"/>
            </a:avLst>
          </a:prstGeom>
          <a:solidFill>
            <a:srgbClr val="323233"/>
          </a:solidFill>
          <a:ln/>
        </p:spPr>
      </p:sp>
      <p:sp>
        <p:nvSpPr>
          <p:cNvPr id="23" name="Shape 21"/>
          <p:cNvSpPr/>
          <p:nvPr/>
        </p:nvSpPr>
        <p:spPr>
          <a:xfrm>
            <a:off x="4160520" y="1472184"/>
            <a:ext cx="3794760" cy="146304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24" name="Shape 22"/>
          <p:cNvSpPr/>
          <p:nvPr/>
        </p:nvSpPr>
        <p:spPr>
          <a:xfrm>
            <a:off x="4288536" y="14264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3"/>
          <p:cNvSpPr/>
          <p:nvPr/>
        </p:nvSpPr>
        <p:spPr>
          <a:xfrm>
            <a:off x="4471416" y="14264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4"/>
          <p:cNvSpPr/>
          <p:nvPr/>
        </p:nvSpPr>
        <p:spPr>
          <a:xfrm>
            <a:off x="4654296" y="14264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3258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example.js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61688" y="1709928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marks = </a:t>
            </a:r>
            <a:r>
              <a:rPr lang="en-US" sz="12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(marks &gt;= </a:t>
            </a:r>
            <a:r>
              <a:rPr lang="en-US" sz="12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"Pass"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"Fail"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160520" y="4800600"/>
            <a:ext cx="3794760" cy="123444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61688" y="4946904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Output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61688" y="5276088"/>
            <a:ext cx="3392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38160" y="1325880"/>
            <a:ext cx="2679192" cy="4709160"/>
          </a:xfrm>
          <a:prstGeom prst="roundRect">
            <a:avLst>
              <a:gd name="adj" fmla="val 3072"/>
            </a:avLst>
          </a:prstGeom>
          <a:solidFill>
            <a:srgbClr val="EAF1F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39328" y="1472184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Concept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39328" y="1801368"/>
            <a:ext cx="2276856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if...else statement gives JavaScript exactly two paths — one for true, one for false — so every condition always produces an outcome.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61288" cy="292608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08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F3F4F6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472184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Purpose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801368"/>
            <a:ext cx="3118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one block of code from multiple possible options.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E1E1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31720"/>
            <a:ext cx="3520440" cy="292608"/>
          </a:xfrm>
          <a:prstGeom prst="roundRect">
            <a:avLst>
              <a:gd name="adj" fmla="val 25000"/>
            </a:avLst>
          </a:prstGeom>
          <a:solidFill>
            <a:srgbClr val="323233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78024"/>
            <a:ext cx="3520440" cy="146304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216" y="24323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" y="24323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950976" y="24323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syntax.js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2715768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(expression)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Code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9F7EF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4398264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Business Examples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4727448"/>
            <a:ext cx="311810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Menu Selection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Role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Status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 Method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 of Week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60520" y="1325880"/>
            <a:ext cx="3794760" cy="3337560"/>
          </a:xfrm>
          <a:prstGeom prst="roundRect">
            <a:avLst>
              <a:gd name="adj" fmla="val 2192"/>
            </a:avLst>
          </a:prstGeom>
          <a:solidFill>
            <a:srgbClr val="1E1E1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60520" y="1325880"/>
            <a:ext cx="3794760" cy="292608"/>
          </a:xfrm>
          <a:prstGeom prst="roundRect">
            <a:avLst>
              <a:gd name="adj" fmla="val 25000"/>
            </a:avLst>
          </a:prstGeom>
          <a:solidFill>
            <a:srgbClr val="323233"/>
          </a:solidFill>
          <a:ln/>
        </p:spPr>
      </p:sp>
      <p:sp>
        <p:nvSpPr>
          <p:cNvPr id="23" name="Shape 21"/>
          <p:cNvSpPr/>
          <p:nvPr/>
        </p:nvSpPr>
        <p:spPr>
          <a:xfrm>
            <a:off x="4160520" y="1472184"/>
            <a:ext cx="3794760" cy="146304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24" name="Shape 22"/>
          <p:cNvSpPr/>
          <p:nvPr/>
        </p:nvSpPr>
        <p:spPr>
          <a:xfrm>
            <a:off x="4288536" y="14264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3"/>
          <p:cNvSpPr/>
          <p:nvPr/>
        </p:nvSpPr>
        <p:spPr>
          <a:xfrm>
            <a:off x="4471416" y="14264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4"/>
          <p:cNvSpPr/>
          <p:nvPr/>
        </p:nvSpPr>
        <p:spPr>
          <a:xfrm>
            <a:off x="4654296" y="14264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3258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example.js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61688" y="1709928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role = "Admin";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(role)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"Admin":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("Full Access");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("Limited Access");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160520" y="4800600"/>
            <a:ext cx="3794760" cy="123444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61688" y="4946904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Output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61688" y="5276088"/>
            <a:ext cx="3392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38160" y="1325880"/>
            <a:ext cx="2679192" cy="4709160"/>
          </a:xfrm>
          <a:prstGeom prst="roundRect">
            <a:avLst>
              <a:gd name="adj" fmla="val 3072"/>
            </a:avLst>
          </a:prstGeom>
          <a:solidFill>
            <a:srgbClr val="EAF1F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39328" y="1472184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Concept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39328" y="1801368"/>
            <a:ext cx="2276856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 statement compares one value against several fixed cases, running the matching block instead of chaining many if...else statements.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TABLE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Operators Used in Conditions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09 / 21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42062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Example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5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== "10"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5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===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Equal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=== "10"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5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!= 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5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!==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Not Equal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!== "10"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5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 &gt; 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5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&lt; 20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5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 or Equal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 &gt;= 18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5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or Equal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 &lt;= 20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760720"/>
            <a:ext cx="10881360" cy="685800"/>
          </a:xfrm>
          <a:prstGeom prst="roundRect">
            <a:avLst>
              <a:gd name="adj" fmla="val 12000"/>
            </a:avLst>
          </a:prstGeom>
          <a:solidFill>
            <a:srgbClr val="FDEDE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" y="5907024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Rule</a:t>
            </a:r>
            <a:endParaRPr lang="en-US" sz="1300" dirty="0"/>
          </a:p>
        </p:txBody>
      </p:sp>
      <p:sp>
        <p:nvSpPr>
          <p:cNvPr id="7" name="Text 7"/>
          <p:cNvSpPr/>
          <p:nvPr/>
        </p:nvSpPr>
        <p:spPr>
          <a:xfrm>
            <a:off x="841248" y="6236208"/>
            <a:ext cx="104790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prefer === and !== to avoid unexpected type coercion in JavaScript comparisons.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TABLE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Operators Used in Conditions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10 / 21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463040"/>
          <a:ext cx="9235440" cy="2103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Example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6C4A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&amp;&amp;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isLoggedIn &amp;&amp; isAdmin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6C4A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||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isAdmin || isManager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6C4A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!isLoggedIn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3886200"/>
            <a:ext cx="5120640" cy="2331720"/>
          </a:xfrm>
          <a:prstGeom prst="roundRect">
            <a:avLst>
              <a:gd name="adj" fmla="val 3529"/>
            </a:avLst>
          </a:prstGeom>
          <a:solidFill>
            <a:srgbClr val="F1ECFB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" y="403250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Concept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" y="4361688"/>
            <a:ext cx="47183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 combine multiple conditions into a single Boolean expression, letting you check several rules at once before making a decision.</a:t>
            </a:r>
            <a:endParaRPr lang="en-US" sz="1250" dirty="0"/>
          </a:p>
        </p:txBody>
      </p:sp>
      <p:sp>
        <p:nvSpPr>
          <p:cNvPr id="7" name="Shape 8"/>
          <p:cNvSpPr/>
          <p:nvPr/>
        </p:nvSpPr>
        <p:spPr>
          <a:xfrm>
            <a:off x="5943600" y="388620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E9F7EF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44768" y="4032504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Business Example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44768" y="4361688"/>
            <a:ext cx="51755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isLoggedIn &amp;&amp; isAdmin → Grant full dashboard access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isAdmin || isManager → Allow report download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61288" cy="292608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Examples — if, if...else, switch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11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E1E1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3611880" cy="292608"/>
          </a:xfrm>
          <a:prstGeom prst="roundRect">
            <a:avLst>
              <a:gd name="adj" fmla="val 25000"/>
            </a:avLst>
          </a:prstGeom>
          <a:solidFill>
            <a:srgbClr val="323233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517904"/>
            <a:ext cx="3611880" cy="146304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10" name="Shape 8"/>
          <p:cNvSpPr/>
          <p:nvPr/>
        </p:nvSpPr>
        <p:spPr>
          <a:xfrm>
            <a:off x="58521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13716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if.js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" y="1755648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stock = </a:t>
            </a:r>
            <a:r>
              <a:rPr lang="en-US" sz="12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(stock &gt; </a:t>
            </a:r>
            <a:r>
              <a:rPr lang="en-US" sz="12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("Available");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5196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E1E1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51960" y="1371600"/>
            <a:ext cx="3611880" cy="292608"/>
          </a:xfrm>
          <a:prstGeom prst="roundRect">
            <a:avLst>
              <a:gd name="adj" fmla="val 25000"/>
            </a:avLst>
          </a:prstGeom>
          <a:solidFill>
            <a:srgbClr val="323233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1960" y="1517904"/>
            <a:ext cx="3611880" cy="146304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437997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4562856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4745736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3716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if-else.js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53128" y="1755648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paymentSuccess = </a:t>
            </a:r>
            <a:r>
              <a:rPr lang="en-US" sz="12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(paymentSuccess)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("Success");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("Failed");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46720" y="1371600"/>
            <a:ext cx="2770632" cy="2331720"/>
          </a:xfrm>
          <a:prstGeom prst="roundRect">
            <a:avLst>
              <a:gd name="adj" fmla="val 3137"/>
            </a:avLst>
          </a:prstGeom>
          <a:solidFill>
            <a:srgbClr val="1E1E1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0" y="1371600"/>
            <a:ext cx="2770632" cy="292608"/>
          </a:xfrm>
          <a:prstGeom prst="roundRect">
            <a:avLst>
              <a:gd name="adj" fmla="val 25000"/>
            </a:avLst>
          </a:prstGeom>
          <a:solidFill>
            <a:srgbClr val="323233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0" y="1517904"/>
            <a:ext cx="2770632" cy="146304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26" name="Shape 24"/>
          <p:cNvSpPr/>
          <p:nvPr/>
        </p:nvSpPr>
        <p:spPr>
          <a:xfrm>
            <a:off x="8174736" y="1472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7" name="Shape 25"/>
          <p:cNvSpPr/>
          <p:nvPr/>
        </p:nvSpPr>
        <p:spPr>
          <a:xfrm>
            <a:off x="8357616" y="1472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 26"/>
          <p:cNvSpPr/>
          <p:nvPr/>
        </p:nvSpPr>
        <p:spPr>
          <a:xfrm>
            <a:off x="8540496" y="1472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9" name="Text 27"/>
          <p:cNvSpPr/>
          <p:nvPr/>
        </p:nvSpPr>
        <p:spPr>
          <a:xfrm>
            <a:off x="8823960" y="137160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switch.js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47888" y="1755648"/>
            <a:ext cx="2404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day =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"Sunday";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(day)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case</a:t>
            </a: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"Sunday":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log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("Off");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break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10360152" cy="2331720"/>
          </a:xfrm>
          <a:prstGeom prst="roundRect">
            <a:avLst>
              <a:gd name="adj" fmla="val 3529"/>
            </a:avLst>
          </a:prstGeom>
          <a:solidFill>
            <a:srgbClr val="FFF7D6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" y="407822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Summary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" y="4407408"/>
            <a:ext cx="995781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→ checks one condition and runs code only when it is true.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if...else → checks a condition and runs one of two blocks depending on the result.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→ compares one value against several fixed cases and runs the matching block.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66544" cy="292608"/>
          </a:xfrm>
          <a:prstGeom prst="roundRect">
            <a:avLst>
              <a:gd name="adj" fmla="val 50000"/>
            </a:avLst>
          </a:prstGeom>
          <a:solidFill>
            <a:srgbClr val="F1E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DECISION TREE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if vs switch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12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2743200" cy="502920"/>
          </a:xfrm>
          <a:prstGeom prst="roundRect">
            <a:avLst>
              <a:gd name="adj" fmla="val 16364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Statement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874520"/>
            <a:ext cx="0" cy="3200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3200" y="2194560"/>
            <a:ext cx="33375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2194560"/>
            <a:ext cx="33375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2194560"/>
            <a:ext cx="0" cy="411480"/>
          </a:xfrm>
          <a:prstGeom prst="line">
            <a:avLst/>
          </a:prstGeom>
          <a:noFill/>
          <a:ln w="25400">
            <a:solidFill>
              <a:srgbClr val="1E56A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18320" y="2194560"/>
            <a:ext cx="0" cy="411480"/>
          </a:xfrm>
          <a:prstGeom prst="line">
            <a:avLst/>
          </a:prstGeom>
          <a:noFill/>
          <a:ln w="25400">
            <a:solidFill>
              <a:srgbClr val="6C4AB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417320" y="2606040"/>
            <a:ext cx="2651760" cy="457200"/>
          </a:xfrm>
          <a:prstGeom prst="roundRect">
            <a:avLst>
              <a:gd name="adj" fmla="val 18000"/>
            </a:avLst>
          </a:prstGeom>
          <a:solidFill>
            <a:srgbClr val="1E56A0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1732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of Values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2440" y="2606040"/>
            <a:ext cx="2651760" cy="457200"/>
          </a:xfrm>
          <a:prstGeom prst="roundRect">
            <a:avLst>
              <a:gd name="adj" fmla="val 18000"/>
            </a:avLst>
          </a:prstGeom>
          <a:solidFill>
            <a:srgbClr val="6C4AB6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9244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Fixed Options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3063240"/>
            <a:ext cx="0" cy="320040"/>
          </a:xfrm>
          <a:prstGeom prst="line">
            <a:avLst/>
          </a:prstGeom>
          <a:noFill/>
          <a:ln w="25400">
            <a:solidFill>
              <a:srgbClr val="1E56A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418320" y="3063240"/>
            <a:ext cx="0" cy="320040"/>
          </a:xfrm>
          <a:prstGeom prst="line">
            <a:avLst/>
          </a:prstGeom>
          <a:noFill/>
          <a:ln w="25400">
            <a:solidFill>
              <a:srgbClr val="6C4AB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417320" y="3383280"/>
            <a:ext cx="2651760" cy="457200"/>
          </a:xfrm>
          <a:prstGeom prst="roundRect">
            <a:avLst>
              <a:gd name="adj" fmla="val 18000"/>
            </a:avLst>
          </a:prstGeom>
          <a:solidFill>
            <a:srgbClr val="EAF1FC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41732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 / if...else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92440" y="3383280"/>
            <a:ext cx="2651760" cy="457200"/>
          </a:xfrm>
          <a:prstGeom prst="roundRect">
            <a:avLst>
              <a:gd name="adj" fmla="val 18000"/>
            </a:avLst>
          </a:prstGeom>
          <a:solidFill>
            <a:srgbClr val="F1ECFB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9244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switch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5120640" cy="2148840"/>
          </a:xfrm>
          <a:prstGeom prst="roundRect">
            <a:avLst>
              <a:gd name="adj" fmla="val 3830"/>
            </a:avLst>
          </a:prstGeom>
          <a:solidFill>
            <a:srgbClr val="EAF1F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" y="430682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Examples for if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" y="4636008"/>
            <a:ext cx="471830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Salary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Discount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26480" y="4160520"/>
            <a:ext cx="5120640" cy="2148840"/>
          </a:xfrm>
          <a:prstGeom prst="roundRect">
            <a:avLst>
              <a:gd name="adj" fmla="val 3830"/>
            </a:avLst>
          </a:prstGeom>
          <a:solidFill>
            <a:srgbClr val="F1ECFB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27648" y="430682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Examples for switch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27648" y="4636008"/>
            <a:ext cx="471830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Menu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 Method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63624" cy="292608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BUSINESS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13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EAF1F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56362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892808"/>
            <a:ext cx="22219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Qualification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E9F7EF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47288" y="156362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7288" y="1892808"/>
            <a:ext cx="22219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F1ECFB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156362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1892808"/>
            <a:ext cx="22219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Availability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23960" y="141732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FDEDE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25128" y="156362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25128" y="1892808"/>
            <a:ext cx="22219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EAF1F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" y="380390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4133088"/>
            <a:ext cx="22219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Eligibility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46120" y="365760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E9F7EF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47288" y="380390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47288" y="4133088"/>
            <a:ext cx="22219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Check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35040" y="365760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F1ECFB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36208" y="380390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4133088"/>
            <a:ext cx="22219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823960" y="365760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FDEDE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025128" y="380390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025128" y="4133088"/>
            <a:ext cx="22219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Verification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64208" cy="292608"/>
          </a:xfrm>
          <a:prstGeom prst="roundRect">
            <a:avLst>
              <a:gd name="adj" fmla="val 50000"/>
            </a:avLst>
          </a:prstGeom>
          <a:solidFill>
            <a:srgbClr val="F1E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INTERVIEW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Tips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14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F1ECFB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517904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Prefer Strict Equality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4983480" cy="1783080"/>
          </a:xfrm>
          <a:prstGeom prst="roundRect">
            <a:avLst>
              <a:gd name="adj" fmla="val 4103"/>
            </a:avLst>
          </a:prstGeom>
          <a:solidFill>
            <a:srgbClr val="1E1E1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65960"/>
            <a:ext cx="4983480" cy="292608"/>
          </a:xfrm>
          <a:prstGeom prst="roundRect">
            <a:avLst>
              <a:gd name="adj" fmla="val 25000"/>
            </a:avLst>
          </a:prstGeom>
          <a:solidFill>
            <a:srgbClr val="323233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112264"/>
            <a:ext cx="4983480" cy="146304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12" name="Shape 10"/>
          <p:cNvSpPr/>
          <p:nvPr/>
        </p:nvSpPr>
        <p:spPr>
          <a:xfrm>
            <a:off x="768096" y="20665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950976" y="20665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33856" y="20665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19659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equality.js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1248" y="2350008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Recommended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=== 10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Avoid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== "10"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5669280" cy="2514600"/>
          </a:xfrm>
          <a:prstGeom prst="roundRect">
            <a:avLst>
              <a:gd name="adj" fmla="val 3273"/>
            </a:avLst>
          </a:prstGeom>
          <a:solidFill>
            <a:srgbClr val="F1ECFB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36208" y="151790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Always Use break in switch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96596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965960"/>
            <a:ext cx="5303520" cy="292608"/>
          </a:xfrm>
          <a:prstGeom prst="roundRect">
            <a:avLst>
              <a:gd name="adj" fmla="val 25000"/>
            </a:avLst>
          </a:prstGeom>
          <a:solidFill>
            <a:srgbClr val="323233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2112264"/>
            <a:ext cx="5303520" cy="146304"/>
          </a:xfrm>
          <a:prstGeom prst="rect">
            <a:avLst/>
          </a:prstGeom>
          <a:solidFill>
            <a:srgbClr val="323233"/>
          </a:solidFill>
          <a:ln/>
        </p:spPr>
      </p:sp>
      <p:sp>
        <p:nvSpPr>
          <p:cNvPr id="22" name="Shape 20"/>
          <p:cNvSpPr/>
          <p:nvPr/>
        </p:nvSpPr>
        <p:spPr>
          <a:xfrm>
            <a:off x="6345936" y="20665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21"/>
          <p:cNvSpPr/>
          <p:nvPr/>
        </p:nvSpPr>
        <p:spPr>
          <a:xfrm>
            <a:off x="6528816" y="20665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6711696" y="20665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19659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switch-break.js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19088" y="235000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"Admin":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("Admin");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break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17920" y="3566160"/>
            <a:ext cx="5303520" cy="457200"/>
          </a:xfrm>
          <a:prstGeom prst="roundRect">
            <a:avLst>
              <a:gd name="adj" fmla="val 10000"/>
            </a:avLst>
          </a:prstGeom>
          <a:solidFill>
            <a:srgbClr val="FFF3B0"/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3566160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break, execution continues to the next case.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11274552" cy="2103120"/>
          </a:xfrm>
          <a:prstGeom prst="roundRect">
            <a:avLst>
              <a:gd name="adj" fmla="val 3913"/>
            </a:avLst>
          </a:prstGeom>
          <a:solidFill>
            <a:srgbClr val="F3F4F6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" y="435254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Most Asked Questions &amp; Tips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" y="4681728"/>
            <a:ext cx="1087221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the difference between == and ===?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is break important inside a switch statement?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switch replace every if...else chain? (No — switch only checks equality, not ranges)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happens if no case matches and there is no default?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 Trick: if → One Decision | if...else → Two Decisions | switch → Many Choices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DEDE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MISTAKES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15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1274552" cy="777240"/>
          </a:xfrm>
          <a:prstGeom prst="roundRect">
            <a:avLst>
              <a:gd name="adj" fmla="val 10588"/>
            </a:avLst>
          </a:prstGeom>
          <a:solidFill>
            <a:srgbClr val="FDEDE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819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curly braces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1274552" cy="777240"/>
          </a:xfrm>
          <a:prstGeom prst="roundRect">
            <a:avLst>
              <a:gd name="adj" fmla="val 10588"/>
            </a:avLst>
          </a:prstGeom>
          <a:solidFill>
            <a:srgbClr val="FDEDE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4963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23774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= instead of ===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11274552" cy="777240"/>
          </a:xfrm>
          <a:prstGeom prst="roundRect">
            <a:avLst>
              <a:gd name="adj" fmla="val 10588"/>
            </a:avLst>
          </a:prstGeom>
          <a:solidFill>
            <a:srgbClr val="FDEDE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4107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32918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break in switch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11274552" cy="777240"/>
          </a:xfrm>
          <a:prstGeom prst="roundRect">
            <a:avLst>
              <a:gd name="adj" fmla="val 10588"/>
            </a:avLst>
          </a:prstGeom>
          <a:solidFill>
            <a:srgbClr val="FDEDE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43251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42062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condition order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11274552" cy="777240"/>
          </a:xfrm>
          <a:prstGeom prst="roundRect">
            <a:avLst>
              <a:gd name="adj" fmla="val 10588"/>
            </a:avLst>
          </a:prstGeom>
          <a:solidFill>
            <a:srgbClr val="FDEDE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52395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8720" y="51206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default case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16 / 21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15600" cy="2194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Statement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56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 when true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56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if...else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possible outcomes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Pass/Fail, 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56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switch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fixed choices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Menu, Role, 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22960" y="4114800"/>
            <a:ext cx="10515600" cy="2103120"/>
          </a:xfrm>
          <a:prstGeom prst="roundRect">
            <a:avLst>
              <a:gd name="adj" fmla="val 3913"/>
            </a:avLst>
          </a:prstGeom>
          <a:solidFill>
            <a:srgbClr val="FFF7D6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24128" y="4261104"/>
            <a:ext cx="10113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Cheat Sheet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24128" y="4590288"/>
            <a:ext cx="1011326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→ Execute code when a condition is true.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if...else → Choose between two outcomes.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→ Select one option from multiple choices.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1E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MEMORY TRICK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Trick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17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3383280" cy="685800"/>
          </a:xfrm>
          <a:prstGeom prst="roundRect">
            <a:avLst>
              <a:gd name="adj" fmla="val 12000"/>
            </a:avLst>
          </a:prstGeom>
          <a:solidFill>
            <a:srgbClr val="1E56A0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011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14600" y="2724912"/>
            <a:ext cx="0" cy="3657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3127248"/>
            <a:ext cx="3383280" cy="914400"/>
          </a:xfrm>
          <a:prstGeom prst="roundRect">
            <a:avLst>
              <a:gd name="adj" fmla="val 9000"/>
            </a:avLst>
          </a:prstGeom>
          <a:solidFill>
            <a:srgbClr val="EAF1F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24128" y="3273552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17720" y="2011680"/>
            <a:ext cx="3383280" cy="685800"/>
          </a:xfrm>
          <a:prstGeom prst="roundRect">
            <a:avLst>
              <a:gd name="adj" fmla="val 12000"/>
            </a:avLst>
          </a:prstGeom>
          <a:solidFill>
            <a:srgbClr val="1E7145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2011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if...else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9360" y="2724912"/>
            <a:ext cx="0" cy="3657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17720" y="3127248"/>
            <a:ext cx="3383280" cy="914400"/>
          </a:xfrm>
          <a:prstGeom prst="roundRect">
            <a:avLst>
              <a:gd name="adj" fmla="val 9000"/>
            </a:avLst>
          </a:prstGeom>
          <a:solidFill>
            <a:srgbClr val="E9F7EF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18888" y="3273552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12480" y="2011680"/>
            <a:ext cx="3383280" cy="685800"/>
          </a:xfrm>
          <a:prstGeom prst="roundRect">
            <a:avLst>
              <a:gd name="adj" fmla="val 12000"/>
            </a:avLst>
          </a:prstGeom>
          <a:solidFill>
            <a:srgbClr val="6C4AB6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0" y="2011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104120" y="2724912"/>
            <a:ext cx="0" cy="3657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12480" y="3127248"/>
            <a:ext cx="3383280" cy="914400"/>
          </a:xfrm>
          <a:prstGeom prst="roundRect">
            <a:avLst>
              <a:gd name="adj" fmla="val 9000"/>
            </a:avLst>
          </a:prstGeom>
          <a:solidFill>
            <a:srgbClr val="F1ECFB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13648" y="3273552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Choices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434840"/>
            <a:ext cx="10515600" cy="1737360"/>
          </a:xfrm>
          <a:prstGeom prst="roundRect">
            <a:avLst>
              <a:gd name="adj" fmla="val 4737"/>
            </a:avLst>
          </a:prstGeom>
          <a:solidFill>
            <a:srgbClr val="FFF7D6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24128" y="4581144"/>
            <a:ext cx="10113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Quick Recall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4910328"/>
            <a:ext cx="101132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 fork in the road: one path (if), two paths (if...else), or many paths (switch). The more paths, the more choices your condition needs to handle.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DIAGRAM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18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23360" y="1371600"/>
            <a:ext cx="4114800" cy="594360"/>
          </a:xfrm>
          <a:prstGeom prst="roundRect">
            <a:avLst>
              <a:gd name="adj" fmla="val 13846"/>
            </a:avLst>
          </a:prstGeom>
          <a:solidFill>
            <a:srgbClr val="1A1A1A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023360" y="13716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80760" y="1993392"/>
            <a:ext cx="0" cy="29260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23360" y="2286000"/>
            <a:ext cx="4114800" cy="594360"/>
          </a:xfrm>
          <a:prstGeom prst="roundRect">
            <a:avLst>
              <a:gd name="adj" fmla="val 13846"/>
            </a:avLst>
          </a:prstGeom>
          <a:solidFill>
            <a:srgbClr val="1E56A0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23360" y="22860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0760" y="2907792"/>
            <a:ext cx="0" cy="29260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23360" y="3200400"/>
            <a:ext cx="4114800" cy="594360"/>
          </a:xfrm>
          <a:prstGeom prst="roundRect">
            <a:avLst>
              <a:gd name="adj" fmla="val 13846"/>
            </a:avLst>
          </a:prstGeom>
          <a:solidFill>
            <a:srgbClr val="6C4AB6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0" y="32004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80760" y="3822192"/>
            <a:ext cx="0" cy="29260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023360" y="4114800"/>
            <a:ext cx="4114800" cy="594360"/>
          </a:xfrm>
          <a:prstGeom prst="roundRect">
            <a:avLst>
              <a:gd name="adj" fmla="val 13846"/>
            </a:avLst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23360" y="41148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80760" y="4736592"/>
            <a:ext cx="0" cy="29260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023360" y="5029200"/>
            <a:ext cx="4114800" cy="594360"/>
          </a:xfrm>
          <a:prstGeom prst="roundRect">
            <a:avLst>
              <a:gd name="adj" fmla="val 13846"/>
            </a:avLst>
          </a:prstGeom>
          <a:solidFill>
            <a:srgbClr val="1E7145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CA3AF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23360" y="50292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Result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1371600"/>
            <a:ext cx="3291840" cy="4114800"/>
          </a:xfrm>
          <a:prstGeom prst="roundRect">
            <a:avLst>
              <a:gd name="adj" fmla="val 2500"/>
            </a:avLst>
          </a:prstGeom>
          <a:solidFill>
            <a:srgbClr val="F3F4F6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" y="1517904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Notes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1847088"/>
            <a:ext cx="288950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enters the program, gets stored in variables, is tested by a condition, produces a decision, and finally yields a business result — the full journey from raw input to actionable output.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12480" y="1371600"/>
            <a:ext cx="3291840" cy="4114800"/>
          </a:xfrm>
          <a:prstGeom prst="roundRect">
            <a:avLst>
              <a:gd name="adj" fmla="val 2500"/>
            </a:avLst>
          </a:prstGeom>
          <a:solidFill>
            <a:srgbClr val="E9F7EF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13648" y="1517904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Example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13648" y="1847088"/>
            <a:ext cx="288950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Amount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total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&gt; 5000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Delivery Applied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One-Line Revision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19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EAF1FC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700784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2029968"/>
            <a:ext cx="104790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code when a condition is true.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E9F7EF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3163824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if...else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3493008"/>
            <a:ext cx="104790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two outcomes.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1ECFB"/>
          </a:solidFill>
          <a:ln/>
          <a:effectLst>
            <a:outerShdw blurRad="63500" dist="19050" dir="5400000" algn="bl" rotWithShape="0">
              <a:srgbClr val="9CA3AF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4626864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4956048"/>
            <a:ext cx="104790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one option from multiple choices.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FFF3B0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989320"/>
            <a:ext cx="10661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these three, and you control the flow of every JavaScript program.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64208" cy="292608"/>
          </a:xfrm>
          <a:prstGeom prst="roundRect">
            <a:avLst>
              <a:gd name="adj" fmla="val 50000"/>
            </a:avLst>
          </a:prstGeom>
          <a:solidFill>
            <a:srgbClr val="F1E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INTERVIEW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Revision — 30 Seconds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  |  JavaScript Foundation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3752" y="6528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20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1ECF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4AB6"/>
                </a:solidFill>
              </a:rPr>
              <a:t>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→ One decision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1ECFB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4173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4AB6"/>
                </a:solidFill>
              </a:rPr>
              <a:t>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141732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if...else → Two decisions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19456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1EC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9456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4AB6"/>
                </a:solidFill>
              </a:rPr>
              <a:t>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219456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→ Multiple fixed choices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219456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1ECFB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219456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4AB6"/>
                </a:solidFill>
              </a:rPr>
              <a:t>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9400" y="219456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=== instead of ==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297180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1ECF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718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4AB6"/>
                </a:solidFill>
              </a:rPr>
              <a:t>✔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297180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break in switch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297180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1ECFB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9718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4AB6"/>
                </a:solidFill>
              </a:rPr>
              <a:t>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297180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return true or false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7490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1ECF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4904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4AB6"/>
                </a:solidFill>
              </a:rPr>
              <a:t>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5840" y="37490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Login, CRM, LMS, Banking, HRMS, E-Commerce, and every real-world application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188720"/>
            <a:ext cx="4572000" cy="4572000"/>
          </a:xfrm>
          <a:prstGeom prst="ellipse">
            <a:avLst/>
          </a:prstGeom>
          <a:solidFill>
            <a:srgbClr val="22345C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2345C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48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8F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RLK LEARNING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2606040"/>
            <a:ext cx="12188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Mastered</a:t>
            </a:r>
            <a:endParaRPr lang="en-US" sz="4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Conditions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 •  Build  •  Share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— Day 05: Loops in JavaScript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59893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Rupesh Lal Kumar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73752" y="64922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  |  JavaScript Conditions  |  Slide 21 / 21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1920</Words>
  <Application>Microsoft Office PowerPoint</Application>
  <PresentationFormat>Widescreen</PresentationFormat>
  <Paragraphs>461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Rupesh Lal Kumar</cp:lastModifiedBy>
  <cp:revision>2</cp:revision>
  <dcterms:created xsi:type="dcterms:W3CDTF">2026-08-05T05:41:03Z</dcterms:created>
  <dcterms:modified xsi:type="dcterms:W3CDTF">2026-08-05T05:45:58Z</dcterms:modified>
</cp:coreProperties>
</file>