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62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TO ACCURACY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52360" y="1024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LEARNING CYCLE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52360" y="1417320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0" y="14173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502445" y="176479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452360" y="1911096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0" y="191109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2445" y="225856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7452360" y="2404872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24048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PRACTICE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02445" y="275234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2360" y="289864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28986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MAKE MISTAKES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02445" y="324612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3392424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33924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IDENTIFY WHY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02445" y="373989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52360" y="3886200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38862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CORRECT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502445" y="423367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452360" y="4379976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43799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PRACTICE AGAIN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02445" y="472744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52360" y="4873752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48737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RECALL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502445" y="522122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5367528"/>
            <a:ext cx="4297680" cy="38404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53675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AUTOMATIC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10241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 AREAS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" y="1463040"/>
            <a:ext cx="6309360" cy="685800"/>
          </a:xfrm>
          <a:prstGeom prst="roundRect">
            <a:avLst>
              <a:gd name="adj" fmla="val 9333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14630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Direction Error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02920" y="2331720"/>
            <a:ext cx="6309360" cy="685800"/>
          </a:xfrm>
          <a:prstGeom prst="roundRect">
            <a:avLst>
              <a:gd name="adj" fmla="val 9333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23317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Logic Error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02920" y="3200400"/>
            <a:ext cx="6309360" cy="685800"/>
          </a:xfrm>
          <a:prstGeom prst="roundRect">
            <a:avLst>
              <a:gd name="adj" fmla="val 9333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2004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Operator Mixing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02920" y="4069080"/>
            <a:ext cx="6309360" cy="685800"/>
          </a:xfrm>
          <a:prstGeom prst="roundRect">
            <a:avLst>
              <a:gd name="adj" fmla="val 9333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0690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Terminology Error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1 and 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FOUR IMPROVEMENT AREAS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70248" y="1005840"/>
            <a:ext cx="3657600" cy="548640"/>
          </a:xfrm>
          <a:prstGeom prst="roundRect">
            <a:avLst>
              <a:gd name="adj" fmla="val 1166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15968" y="1005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AREAS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92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Comparison Direction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&lt; &gt;= &lt;=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962656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left/right direction sometimes gets reversed.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892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Logical Operators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3957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||  !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962656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shortcuts: &amp;&amp; = ALL, || = ANY, ! = NOT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78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Operator Categories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6817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!= !== =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5248656"/>
            <a:ext cx="4800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sometimes get mixed.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178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Exact Technical Terminology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4681728"/>
            <a:ext cx="4800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is understood, but technical definitions can sometimes be inaccurate.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DIRECTION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4300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143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   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20440" y="114300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143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   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143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&gt;=   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732520" y="114300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0" y="1143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&lt;=   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2148840"/>
            <a:ext cx="10332720" cy="548640"/>
          </a:xfrm>
          <a:prstGeom prst="roundRect">
            <a:avLst>
              <a:gd name="adj" fmla="val 11667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148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 Left / Right Direction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127248" y="2971800"/>
            <a:ext cx="5943600" cy="548640"/>
          </a:xfrm>
          <a:prstGeom prst="roundRect">
            <a:avLst>
              <a:gd name="adj" fmla="val 1166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72968" y="29718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B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000293" y="350215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3666744"/>
            <a:ext cx="5943600" cy="548640"/>
          </a:xfrm>
          <a:prstGeom prst="roundRect">
            <a:avLst>
              <a:gd name="adj" fmla="val 11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72968" y="36667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greater than B?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00293" y="419709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27248" y="4361688"/>
            <a:ext cx="5943600" cy="548640"/>
          </a:xfrm>
          <a:prstGeom prst="roundRect">
            <a:avLst>
              <a:gd name="adj" fmla="val 1166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72968" y="436168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&gt; 5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000293" y="489204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127248" y="5056632"/>
            <a:ext cx="5943600" cy="548640"/>
          </a:xfrm>
          <a:prstGeom prst="roundRect">
            <a:avLst>
              <a:gd name="adj" fmla="val 11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72968" y="505663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8 greater than 5?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00293" y="558698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127248" y="5751576"/>
            <a:ext cx="5943600" cy="548640"/>
          </a:xfrm>
          <a:prstGeom prst="roundRect">
            <a:avLst>
              <a:gd name="adj" fmla="val 1166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72968" y="575157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Teach: convert every comparison into a sentence, not a visual symbol read. — Sections 2 and 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OPERATORS: CORE RULE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29584" y="1805940"/>
            <a:ext cx="292608" cy="182880"/>
          </a:xfrm>
          <a:prstGeom prst="rightArrow">
            <a:avLst/>
          </a:prstGeom>
          <a:solidFill>
            <a:srgbClr val="5F6368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1371600"/>
            <a:ext cx="7406640" cy="1051560"/>
          </a:xfrm>
          <a:prstGeom prst="roundRect">
            <a:avLst>
              <a:gd name="adj" fmla="val 608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77640" y="13716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greater than B.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974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 B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29584" y="3131820"/>
            <a:ext cx="292608" cy="182880"/>
          </a:xfrm>
          <a:prstGeom prst="rightArrow">
            <a:avLst/>
          </a:prstGeom>
          <a:solidFill>
            <a:srgbClr val="5F6368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2697480"/>
            <a:ext cx="7406640" cy="1051560"/>
          </a:xfrm>
          <a:prstGeom prst="roundRect">
            <a:avLst>
              <a:gd name="adj" fmla="val 608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77640" y="269748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less than B.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0233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&gt;= B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529584" y="4457700"/>
            <a:ext cx="292608" cy="182880"/>
          </a:xfrm>
          <a:prstGeom prst="rightArrow">
            <a:avLst/>
          </a:prstGeom>
          <a:solidFill>
            <a:srgbClr val="5F6368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4023360"/>
            <a:ext cx="7406640" cy="1051560"/>
          </a:xfrm>
          <a:prstGeom prst="roundRect">
            <a:avLst>
              <a:gd name="adj" fmla="val 608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402336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greater than or equal to B.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" y="534924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34924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&lt;= B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529584" y="5783580"/>
            <a:ext cx="292608" cy="182880"/>
          </a:xfrm>
          <a:prstGeom prst="rightArrow">
            <a:avLst/>
          </a:prstGeom>
          <a:solidFill>
            <a:srgbClr val="5F6368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5349240"/>
            <a:ext cx="7406640" cy="1051560"/>
          </a:xfrm>
          <a:prstGeom prst="roundRect">
            <a:avLst>
              <a:gd name="adj" fmla="val 608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77640" y="53492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less than or equal to B.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DIRECTION NOTES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12848" y="1188720"/>
            <a:ext cx="7772400" cy="475488"/>
          </a:xfrm>
          <a:prstGeom prst="roundRect">
            <a:avLst>
              <a:gd name="adj" fmla="val 1346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58568" y="11887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Comparison Operators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00293" y="163677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2212848" y="1792224"/>
            <a:ext cx="7772400" cy="566928"/>
          </a:xfrm>
          <a:prstGeom prst="roundRect">
            <a:avLst>
              <a:gd name="adj" fmla="val 1129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58568" y="179222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read the expression as a sentence.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293" y="233172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212848" y="2487168"/>
            <a:ext cx="7772400" cy="475488"/>
          </a:xfrm>
          <a:prstGeom prst="roundRect">
            <a:avLst>
              <a:gd name="adj" fmla="val 1346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58568" y="24871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8 &gt; 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00293" y="293522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2212848" y="3090672"/>
            <a:ext cx="7772400" cy="475488"/>
          </a:xfrm>
          <a:prstGeom prst="roundRect">
            <a:avLst>
              <a:gd name="adj" fmla="val 13462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58568" y="309067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8 greater than 5?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00293" y="353872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212848" y="3694176"/>
            <a:ext cx="777240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58568" y="36941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True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10515600" cy="1508760"/>
          </a:xfrm>
          <a:prstGeom prst="roundRect">
            <a:avLst>
              <a:gd name="adj" fmla="val 424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864608"/>
            <a:ext cx="10058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2E"/>
                </a:solidFill>
              </a:rPr>
              <a:t>More Examples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&gt; 7  →  Is 3 greater than 7?  →  False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&lt;= 4  →  Is 4 less than or equal to 4?  →  True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DIRECTION DRILL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4358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Recognition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&lt;   &gt;=   &lt;=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313432"/>
            <a:ext cx="10332720" cy="96012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236829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Sentence Conversion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6791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&gt; 4   →   Is 9 greater than 4?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645920" y="3438144"/>
            <a:ext cx="9784080" cy="9601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34930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Truth Evaluation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3803904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&gt; 4  →  Is 9 greater than 4?  →  True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10698480" cy="64008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4348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RULE:   A &gt; B   →   Is A greater than B?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5166360"/>
            <a:ext cx="10698480" cy="822960"/>
          </a:xfrm>
          <a:prstGeom prst="roundRect">
            <a:avLst>
              <a:gd name="adj" fmla="val 7778"/>
            </a:avLst>
          </a:prstGeom>
          <a:solidFill>
            <a:srgbClr val="FFF8E1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1663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this can be done without thinking, speed does not need to increase.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70248" y="109728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15968" y="1097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436876" y="1874520"/>
            <a:ext cx="246888" cy="274320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4884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48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2423160" y="3611880"/>
            <a:ext cx="27432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93192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65876" y="1874520"/>
            <a:ext cx="246888" cy="274320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4884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2148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5852160" y="3611880"/>
            <a:ext cx="27432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393192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294876" y="1874520"/>
            <a:ext cx="246888" cy="274320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214884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2148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9281160" y="3611880"/>
            <a:ext cx="27432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393192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5 — no truth tables or added Boolean concepts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 LOGICAL AND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1430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67405" y="169164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56232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8562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67405" y="231343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478024"/>
            <a:ext cx="4937760" cy="658368"/>
          </a:xfrm>
          <a:prstGeom prst="roundRect">
            <a:avLst>
              <a:gd name="adj" fmla="val 9722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47802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AND operator evaluates to true only when both operands are true.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467405" y="311810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282696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328269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ALL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0" y="128016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true
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are true. → </a:t>
            </a: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274320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2880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
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true नहीं हैं। → </a:t>
            </a:r>
            <a:r>
              <a:rPr lang="en-US" sz="16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 LOGICAL 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1430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67405" y="169164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56232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8562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67405" y="231343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478024"/>
            <a:ext cx="4937760" cy="658368"/>
          </a:xfrm>
          <a:prstGeom prst="roundRect">
            <a:avLst>
              <a:gd name="adj" fmla="val 9722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47802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OR operator evaluates to true when at least one operand is true.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467405" y="311810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282696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328269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ANY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0" y="128016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|| false
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least one true है। → </a:t>
            </a: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2743200"/>
            <a:ext cx="4114800" cy="1371600"/>
          </a:xfrm>
          <a:prstGeom prst="roundRect">
            <a:avLst>
              <a:gd name="adj" fmla="val 466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2880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|| false
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कोई भी true नहीं है। → </a:t>
            </a:r>
            <a:r>
              <a:rPr lang="en-US" sz="16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LOGICAL NOT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1430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67405" y="170078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74520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8745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NOT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67405" y="234086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51460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5146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NOT operator negates a Boolean value.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67405" y="307238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246120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32461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NOT / Reverse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0" y="146304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668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!true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95206" y="2377440"/>
            <a:ext cx="263347" cy="292608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274320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680960" y="37947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26680" y="3794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!false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195206" y="4709160"/>
            <a:ext cx="263347" cy="292608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0960" y="507492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26680" y="50749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— WORKING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1887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06240" y="1188720"/>
            <a:ext cx="7132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51960" y="118872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(&amp;&amp;)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956816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5681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Definition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1956816"/>
            <a:ext cx="7132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956816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only when both operands are true.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724912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72491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Shortcut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0" y="2724912"/>
            <a:ext cx="7132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2724912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493008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49300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6240" y="3493008"/>
            <a:ext cx="7132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51960" y="3493008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261104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2611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06240" y="4261104"/>
            <a:ext cx="7132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51960" y="4261104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5029200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502920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Explanation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06240" y="5029200"/>
            <a:ext cx="7132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51960" y="502920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 — Source: Section 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CATEGORIES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27448" y="118872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73168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9048" y="1783080"/>
            <a:ext cx="0" cy="82296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099048" y="1783080"/>
            <a:ext cx="0" cy="82296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260604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099048" y="1783080"/>
            <a:ext cx="1627632" cy="82296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60604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99048" y="1783080"/>
            <a:ext cx="4462272" cy="82296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81160" y="2606040"/>
            <a:ext cx="2560320" cy="9144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0" y="2606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structure only — operators are added on later slides. Source: Sections 10–14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OPERATOR FAMILIES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377440" cy="438912"/>
          </a:xfrm>
          <a:prstGeom prst="roundRect">
            <a:avLst>
              <a:gd name="adj" fmla="val 14583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17520" y="1188720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63240" y="1188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188720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60920" y="11887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017520" y="1691640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16916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0" y="169164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0920" y="1691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ASSIGN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71576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017520" y="2715768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63240" y="27157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  %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0" y="2715768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27157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739896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73989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3017520" y="3739896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063240" y="3739896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&lt; &gt;= &lt;= == != === !==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315200" y="3739896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373989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4764024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764024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3017520" y="4764024"/>
            <a:ext cx="4114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63240" y="4764024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||  !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315200" y="4764024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60920" y="476402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/ NEGATE CONDITIONS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11–14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64408" y="2194560"/>
            <a:ext cx="5669280" cy="685800"/>
          </a:xfrm>
          <a:prstGeom prst="roundRect">
            <a:avLst>
              <a:gd name="adj" fmla="val 9333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310128" y="21945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00293" y="288036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3264408" y="3063240"/>
            <a:ext cx="56692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0128" y="30632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operator assigns a value to a variable.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00293" y="370332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3886200"/>
            <a:ext cx="5669280" cy="548640"/>
          </a:xfrm>
          <a:prstGeom prst="roundRect">
            <a:avLst>
              <a:gd name="adj" fmla="val 1166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3886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= 20;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00293" y="443484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4408" y="4617720"/>
            <a:ext cx="5669280" cy="502920"/>
          </a:xfrm>
          <a:prstGeom prst="roundRect">
            <a:avLst>
              <a:gd name="adj" fmla="val 1272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46177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STORE / ASSIGN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94560" y="1965960"/>
            <a:ext cx="7772400" cy="822960"/>
          </a:xfrm>
          <a:prstGeom prst="roundRect">
            <a:avLst>
              <a:gd name="adj" fmla="val 7778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40280" y="1965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−   ×   ÷   %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75604" y="2880360"/>
            <a:ext cx="246888" cy="274320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4270248" y="320040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15968" y="3200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160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71800" y="416052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4160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5 - 2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0" y="416052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6360" y="4160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* 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269480" y="416052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4160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18320" y="416052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64040" y="4160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5 %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96596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965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&lt; &gt;= &lt;= == != === !==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75604" y="2834640"/>
            <a:ext cx="246888" cy="274320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3154680"/>
            <a:ext cx="3291840" cy="548640"/>
          </a:xfrm>
          <a:prstGeom prst="roundRect">
            <a:avLst>
              <a:gd name="adj" fmla="val 1166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4023360"/>
            <a:ext cx="242316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4023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0" y="4023360"/>
            <a:ext cx="242316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4023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4023360"/>
            <a:ext cx="242316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4023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=== 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869680" y="4023360"/>
            <a:ext cx="2423160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4023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!== "5"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08960" y="2331720"/>
            <a:ext cx="5943600" cy="868680"/>
          </a:xfrm>
          <a:prstGeom prst="roundRect">
            <a:avLst>
              <a:gd name="adj" fmla="val 7368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154680" y="23317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  ||    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55030" y="3337560"/>
            <a:ext cx="288036" cy="320040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3703320"/>
            <a:ext cx="6400800" cy="685800"/>
          </a:xfrm>
          <a:prstGeom prst="roundRect">
            <a:avLst>
              <a:gd name="adj" fmla="val 9333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370332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/ NEGATE CONDITIONS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FAMILY NOTEBOOK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441448" y="1188720"/>
            <a:ext cx="7315200" cy="566928"/>
          </a:xfrm>
          <a:prstGeom prst="roundRect">
            <a:avLst>
              <a:gd name="adj" fmla="val 11290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87168" y="1188720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 OPERATOR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00293" y="175564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2441448" y="1938528"/>
            <a:ext cx="7315200" cy="566928"/>
          </a:xfrm>
          <a:prstGeom prst="roundRect">
            <a:avLst>
              <a:gd name="adj" fmla="val 1129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87168" y="193852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Family पहचानो।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00293" y="250545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441448" y="2688336"/>
            <a:ext cx="7315200" cy="566928"/>
          </a:xfrm>
          <a:prstGeom prst="roundRect">
            <a:avLst>
              <a:gd name="adj" fmla="val 11290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688336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Technical meaning बताओ।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000293" y="325526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41448" y="3438144"/>
            <a:ext cx="7315200" cy="566928"/>
          </a:xfrm>
          <a:prstGeom prst="roundRect">
            <a:avLst>
              <a:gd name="adj" fmla="val 11290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87168" y="3438144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Example दो।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00293" y="400507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41448" y="4187952"/>
            <a:ext cx="7315200" cy="594360"/>
          </a:xfrm>
          <a:prstGeom prst="roundRect">
            <a:avLst>
              <a:gd name="adj" fmla="val 10769"/>
            </a:avLst>
          </a:prstGeom>
          <a:solidFill>
            <a:srgbClr val="FFF8E1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87168" y="418795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Operator-mixing problem gradually decreases.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TECHNICAL TERMINOLOGY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972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concept ≠ accurately stating its technical definition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83280" cy="594360"/>
          </a:xfrm>
          <a:prstGeom prst="roundRect">
            <a:avLst>
              <a:gd name="adj" fmla="val 10769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Technical Definition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383280" cy="594360"/>
          </a:xfrm>
          <a:prstGeom prst="roundRect">
            <a:avLst>
              <a:gd name="adj" fmla="val 10769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Example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55280" y="2057400"/>
            <a:ext cx="3383280" cy="594360"/>
          </a:xfrm>
          <a:prstGeom prst="roundRect">
            <a:avLst>
              <a:gd name="adj" fmla="val 10769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My Explanation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70048" y="3017520"/>
            <a:ext cx="6858000" cy="594360"/>
          </a:xfrm>
          <a:prstGeom prst="roundRect">
            <a:avLst>
              <a:gd name="adj" fmla="val 10769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15768" y="301752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Technical Definition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00293" y="363474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70048" y="3840480"/>
            <a:ext cx="6858000" cy="594360"/>
          </a:xfrm>
          <a:prstGeom prst="roundRect">
            <a:avLst>
              <a:gd name="adj" fmla="val 10769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384048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Simple Explanation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000293" y="445770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70048" y="4663440"/>
            <a:ext cx="6858000" cy="594360"/>
          </a:xfrm>
          <a:prstGeom prst="roundRect">
            <a:avLst>
              <a:gd name="adj" fmla="val 10769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15768" y="466344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Example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 and simple understanding are connected. Source: Sections 16–18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960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SHOW → EXPLAIN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operator assigns a value to a variable.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57C0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251960" y="1965960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2E7D32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18120" y="1965960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19659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के अंदर 10 store करना।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960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→ EXAMPLE → PERSONAL EXPLANATION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441448" y="1371600"/>
            <a:ext cx="7315200" cy="685800"/>
          </a:xfrm>
          <a:prstGeom prst="roundRect">
            <a:avLst>
              <a:gd name="adj" fmla="val 9333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87168" y="13716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&amp;&amp; operator returns true only when both operands are truthy.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00293" y="204825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2441448" y="2221992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222199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true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00293" y="271576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2441448" y="2889504"/>
            <a:ext cx="7315200" cy="502920"/>
          </a:xfrm>
          <a:prstGeom prst="roundRect">
            <a:avLst>
              <a:gd name="adj" fmla="val 1272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2889504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true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00293" y="338328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441448" y="3557016"/>
            <a:ext cx="7315200" cy="548640"/>
          </a:xfrm>
          <a:prstGeom prst="roundRect">
            <a:avLst>
              <a:gd name="adj" fmla="val 11667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5570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दोनों conditions pass होनी चाहिए।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234440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2344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! operator negates a Boolean value.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21685" y="181965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993392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993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!true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1685" y="248716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660904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6609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false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21685" y="315468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328416"/>
            <a:ext cx="4846320" cy="548640"/>
          </a:xfrm>
          <a:prstGeom prst="roundRect">
            <a:avLst>
              <a:gd name="adj" fmla="val 11667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33284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को उल्टा करके false करता है।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80960" y="228600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6680" y="2286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646920" y="2555748"/>
            <a:ext cx="365760" cy="22860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0" y="2286000"/>
            <a:ext cx="640080" cy="77724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04120" y="22860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680960" y="3383280"/>
            <a:ext cx="301752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26680" y="3383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915400" y="3108960"/>
            <a:ext cx="219456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NOTES TEMPLATE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61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Technical Definition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883664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02920" y="2212848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Simple Meaning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02920" y="3236976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10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Mental Shortcut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02920" y="4261104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3342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Syntax / Operator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956048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" y="5285232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53583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Example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980176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2618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1883664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80760" y="2212848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Why?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2907792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3236976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310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Common Mistake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080760" y="4261104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43342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My Explanation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3640" y="4956048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080760" y="5285232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53583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One Recall Question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3640" y="5980176"/>
            <a:ext cx="4937760" cy="0"/>
          </a:xfrm>
          <a:prstGeom prst="line">
            <a:avLst/>
          </a:prstGeom>
          <a:noFill/>
          <a:ln w="9525">
            <a:solidFill>
              <a:srgbClr val="1565C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usable study template — Source: Section 19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LOG: THE MOST IMPORTANT PART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35885" y="166420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19656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196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35885" y="229514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50592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Rule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35885" y="292608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081528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815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Example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35885" y="355701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712464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1246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52160" y="114300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114300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11430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&gt; 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170992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17099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1709928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0" y="1709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2276856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97880" y="22768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49640" y="2276856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95360" y="22768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2843784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97880" y="2843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 WRONG?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49640" y="2843784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95360" y="284378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reversed the comparison direction.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852160" y="3410712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97880" y="34107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CONCEPT: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49640" y="3410712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95360" y="34107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"Is 5 greater than 8?"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852160" y="397764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49640" y="3977640"/>
            <a:ext cx="30632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59536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every comparison into a sentence.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 METHOD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35885" y="170992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65376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65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NOTES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35885" y="234086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96312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963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PAGE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735885" y="297180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127248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FFF8E1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272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735885" y="360273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758184"/>
            <a:ext cx="4297680" cy="502920"/>
          </a:xfrm>
          <a:prstGeom prst="roundRect">
            <a:avLst>
              <a:gd name="adj" fmla="val 1272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581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806440" y="1234440"/>
            <a:ext cx="5806440" cy="4480560"/>
          </a:xfrm>
          <a:prstGeom prst="roundRect">
            <a:avLst>
              <a:gd name="adj" fmla="val 1429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4173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Questions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&gt; mean?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&lt; mean?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&gt;= mean?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does &lt;= mean?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 I avoid direction mistakes?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LEVELS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9786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Recognition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04241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→  Logical operator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2075688"/>
            <a:ext cx="10497312" cy="841248"/>
          </a:xfrm>
          <a:prstGeom prst="roundRect">
            <a:avLst>
              <a:gd name="adj" fmla="val 7609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61288" y="2130552"/>
            <a:ext cx="10040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Meaning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1288" y="2441448"/>
            <a:ext cx="10040112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→  AND / ALL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16736" y="3008376"/>
            <a:ext cx="10113264" cy="841248"/>
          </a:xfrm>
          <a:prstGeom prst="roundRect">
            <a:avLst>
              <a:gd name="adj" fmla="val 7609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45336" y="3063240"/>
            <a:ext cx="9656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Application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45336" y="3374136"/>
            <a:ext cx="9656064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  →  false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00784" y="3941064"/>
            <a:ext cx="9729216" cy="841248"/>
          </a:xfrm>
          <a:prstGeom prst="roundRect">
            <a:avLst>
              <a:gd name="adj" fmla="val 7609"/>
            </a:avLst>
          </a:prstGeom>
          <a:solidFill>
            <a:srgbClr val="FDECEA"/>
          </a:solidFill>
          <a:ln w="19050">
            <a:solidFill>
              <a:srgbClr val="D32F2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9384" y="3995928"/>
            <a:ext cx="9272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4: Explanation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9384" y="4306824"/>
            <a:ext cx="9272016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answer false?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84832" y="4873752"/>
            <a:ext cx="9345168" cy="841248"/>
          </a:xfrm>
          <a:prstGeom prst="roundRect">
            <a:avLst>
              <a:gd name="adj" fmla="val 7609"/>
            </a:avLst>
          </a:prstGeom>
          <a:solidFill>
            <a:srgbClr val="FFF8E1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13432" y="4928616"/>
            <a:ext cx="8887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5: Technical Definition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13432" y="5239512"/>
            <a:ext cx="888796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&amp;&amp; operator technically.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family does = belong to?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118872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1887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does &amp;&amp; mean?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4028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Is 7 &gt; 10 true or false?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224028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does ! do?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29184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What is the difference between != and !==?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29184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Give a technical definition of ===.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4340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What family does !== belong to?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434340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34340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Evaluate: true || false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23360" y="544068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69080" y="5440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appear only where present in the source. Source: Section 24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AUTOMATICITY TRAINING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0" y="105156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06908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understand it."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83834" y="1627632"/>
            <a:ext cx="230429" cy="256032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3355848" y="1920240"/>
            <a:ext cx="5486400" cy="502920"/>
          </a:xfrm>
          <a:prstGeom prst="roundRect">
            <a:avLst>
              <a:gd name="adj" fmla="val 12727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01568" y="19202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00293" y="2395728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3355848" y="2551176"/>
            <a:ext cx="5486400" cy="411480"/>
          </a:xfrm>
          <a:prstGeom prst="roundRect">
            <a:avLst>
              <a:gd name="adj" fmla="val 15556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255117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but correct.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0293" y="2935224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3090672"/>
            <a:ext cx="5486400" cy="502920"/>
          </a:xfrm>
          <a:prstGeom prst="roundRect">
            <a:avLst>
              <a:gd name="adj" fmla="val 12727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01568" y="30906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00293" y="356616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3355848" y="3721608"/>
            <a:ext cx="5486400" cy="411480"/>
          </a:xfrm>
          <a:prstGeom prst="roundRect">
            <a:avLst>
              <a:gd name="adj" fmla="val 15556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01568" y="372160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correct.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0293" y="4105656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3355848" y="4261104"/>
            <a:ext cx="5486400" cy="502920"/>
          </a:xfrm>
          <a:prstGeom prst="roundRect">
            <a:avLst>
              <a:gd name="adj" fmla="val 12727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01568" y="42611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AUTOMATICITY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000293" y="4736592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355848" y="4892040"/>
            <a:ext cx="5486400" cy="411480"/>
          </a:xfrm>
          <a:prstGeom prst="roundRect">
            <a:avLst>
              <a:gd name="adj" fmla="val 15556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01568" y="4892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questions में भी correct.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83834" y="5257800"/>
            <a:ext cx="230429" cy="256032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8960" y="5577840"/>
            <a:ext cx="5943600" cy="594360"/>
          </a:xfrm>
          <a:prstGeom prst="roundRect">
            <a:avLst>
              <a:gd name="adj" fmla="val 10769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54680" y="557784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recognize it correctly without hesitation."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25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30-MINUTE IMPROVEMENT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26280" y="2880360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0" y="28803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26280" y="114300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36008" y="1143000"/>
            <a:ext cx="28895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— Recall
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कल के concepts बिना notes देखे।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87452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39328" y="1874520"/>
            <a:ext cx="3346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Targeted Practice
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आज केवल एक weak area।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34290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39328" y="3429000"/>
            <a:ext cx="3346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— Technical Definition
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concepts की one-line definitions।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4290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DECEA"/>
          </a:solidFill>
          <a:ln w="19050">
            <a:solidFill>
              <a:srgbClr val="D32F2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" y="3429000"/>
            <a:ext cx="3346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— Error Log
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आज की mistakes।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187452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" y="1874520"/>
            <a:ext cx="33467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— Retest
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आज के गलत questions फिर से।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91840" y="4892040"/>
            <a:ext cx="5577840" cy="502920"/>
          </a:xfrm>
          <a:prstGeom prst="roundRect">
            <a:avLst>
              <a:gd name="adj" fmla="val 12727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4892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rotation, not a strict order — repeated daily.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IMPROVEMENT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1565C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5740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F57C0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5740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2E7D32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Categories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4068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D32F2F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4068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Terminology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3232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82396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5F6368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86968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2396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Retest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0515600" y="13716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F9A825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561320" y="13716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515600" y="1965960"/>
            <a:ext cx="1572768" cy="2651760"/>
          </a:xfrm>
          <a:prstGeom prst="roundRect">
            <a:avLst>
              <a:gd name="adj" fmla="val 4070"/>
            </a:avLst>
          </a:prstGeom>
          <a:solidFill>
            <a:srgbClr val="FFF8E1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561320" y="196596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Test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097280" y="50749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43000" y="50749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area has more errors, increase its practice volume next week.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27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4760" y="123444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41080" y="123444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0" y="1234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7830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94760" y="178308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7830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7830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41080" y="1783080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0" y="17830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Strong/Mastered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404872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4048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794760" y="2404872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240487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17920" y="2404872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240487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86%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41080" y="2404872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24048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Improving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026664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302666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794760" y="3026664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217920" y="3026664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641080" y="3026664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0" y="30266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Strong/Mastered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648456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" y="364845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794760" y="3648456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0" y="36484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217920" y="3648456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63640" y="36484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8641080" y="3648456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86800" y="3648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Weak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" y="4407408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" y="44074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&lt; 80%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383280" y="4407408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429000" y="44074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80–89%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126480" y="4407408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72200" y="44074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90–94%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869680" y="4407408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915400" y="440740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95%+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28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TEST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8132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48006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direction सही पढ़ो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sentence correctly बनाओ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True/False सही निकालो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DECEA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48132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98424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  ||   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551176"/>
            <a:ext cx="4800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502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48006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किसी operator की family तुरंत पहचानो।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9502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453128"/>
            <a:ext cx="48006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technically accurate definition + 1 correct example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29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IMPROVEMENT MASTER SHEET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E8F0FB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252728"/>
            <a:ext cx="3374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COMPARISON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76072" y="1709928"/>
            <a:ext cx="33741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greater than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less than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greater/equal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less/equal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Rule: "Is A ... B?"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114300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DECEA"/>
          </a:solidFill>
          <a:ln w="19050">
            <a:solidFill>
              <a:srgbClr val="D32F2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16552" y="1252728"/>
            <a:ext cx="3374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16552" y="1709928"/>
            <a:ext cx="33741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= ALL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= ANY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= NOT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2440" y="114300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57032" y="1252728"/>
            <a:ext cx="3374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OPERATOR FAMILIES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57032" y="1709928"/>
            <a:ext cx="33741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Assignment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- * / % Arithmetic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&lt; &gt;= &lt;= Comparison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|| ! Logical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70332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" y="3813048"/>
            <a:ext cx="3374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TECHNICAL DEFINITION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6072" y="4270248"/>
            <a:ext cx="33741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→ Definition → Example → My Explanation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51960" y="370332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2F4F7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16552" y="3813048"/>
            <a:ext cx="3374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ERROR FORMULA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16552" y="4270248"/>
            <a:ext cx="33741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Mistake → Why? → Correct Rule → New Example → Retest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3703320"/>
            <a:ext cx="3703320" cy="2423160"/>
          </a:xfrm>
          <a:prstGeom prst="roundRect">
            <a:avLst>
              <a:gd name="adj" fmla="val 2642"/>
            </a:avLst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57032" y="3813048"/>
            <a:ext cx="3374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MASTERY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57032" y="4270248"/>
            <a:ext cx="337413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 → Practice → Recall → Correct → Repeat → Automatic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revision poster — Source: Section 30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57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64485" y="136017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8590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859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64485" y="174879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7452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64485" y="213741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6314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2631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64485" y="252603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65176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MISTAKES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64485" y="291465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4038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0403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64485" y="330327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42900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ERROR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64485" y="369189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81762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8176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64485" y="408051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20624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64485" y="446913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59486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5948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64485" y="485775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98348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64485" y="524637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" y="537210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" y="53721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964485" y="5634990"/>
            <a:ext cx="197510" cy="219456"/>
          </a:xfrm>
          <a:prstGeom prst="downArrow">
            <a:avLst/>
          </a:prstGeom>
          <a:solidFill>
            <a:srgbClr val="1A1A2E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5760720"/>
            <a:ext cx="4663440" cy="3200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772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06640" y="1143000"/>
            <a:ext cx="4297680" cy="3200400"/>
          </a:xfrm>
          <a:prstGeom prst="roundRect">
            <a:avLst>
              <a:gd name="adj" fmla="val 2000"/>
            </a:avLst>
          </a:prstGeom>
          <a:solidFill>
            <a:srgbClr val="FFF8E1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13258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गलती होना problem नहीं है। एक ही गलती को बिना समझे दोबारा करना problem है।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7406640" y="4572000"/>
            <a:ext cx="4297680" cy="822960"/>
          </a:xfrm>
          <a:prstGeom prst="roundRect">
            <a:avLst>
              <a:gd name="adj" fmla="val 7778"/>
            </a:avLst>
          </a:prstGeom>
          <a:solidFill>
            <a:srgbClr val="1A1A2E"/>
          </a:solidFill>
          <a:ln w="19050">
            <a:solidFill>
              <a:srgbClr val="1A1A2E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52360" y="45720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= Personal Improvement Database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page of the visual-notes chapter — Source: Section 31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1708</Words>
  <Application>Microsoft Office PowerPoint</Application>
  <PresentationFormat>Widescreen</PresentationFormat>
  <Paragraphs>443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Rupesh Lal Kumar</cp:lastModifiedBy>
  <cp:revision>2</cp:revision>
  <dcterms:created xsi:type="dcterms:W3CDTF">2026-08-25T09:24:15Z</dcterms:created>
  <dcterms:modified xsi:type="dcterms:W3CDTF">2026-10-07T23:59:33Z</dcterms:modified>
</cp:coreProperties>
</file>