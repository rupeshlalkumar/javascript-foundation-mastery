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34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96288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UNDERSTANDING TO ACCURACY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452360" y="1024128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IMPROVEMENT LEARNING CYCLE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452360" y="1417320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98080" y="141732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UNDERSTAND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502445" y="176479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7" name="Shape 5"/>
          <p:cNvSpPr/>
          <p:nvPr/>
        </p:nvSpPr>
        <p:spPr>
          <a:xfrm>
            <a:off x="7452360" y="1911096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0" y="1911096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WRITE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502445" y="225856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0" name="Shape 8"/>
          <p:cNvSpPr/>
          <p:nvPr/>
        </p:nvSpPr>
        <p:spPr>
          <a:xfrm>
            <a:off x="7452360" y="2404872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98080" y="2404872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PRACTICE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502445" y="275234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7452360" y="2898648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0" y="2898648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MAKE MISTAKES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502445" y="324612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7452360" y="3392424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98080" y="3392424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IDENTIFY WHY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502445" y="373989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7452360" y="3886200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0" y="388620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CORRECT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502445" y="423367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7452360" y="4379976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0" y="4379976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PRACTICE AGAIN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502445" y="472744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5" name="Shape 23"/>
          <p:cNvSpPr/>
          <p:nvPr/>
        </p:nvSpPr>
        <p:spPr>
          <a:xfrm>
            <a:off x="7452360" y="4873752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498080" y="4873752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RECALL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502445" y="522122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8" name="Shape 26"/>
          <p:cNvSpPr/>
          <p:nvPr/>
        </p:nvSpPr>
        <p:spPr>
          <a:xfrm>
            <a:off x="7452360" y="5367528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0" y="5367528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AUTOMATIC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02920" y="1024128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PROBLEM AREAS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02920" y="1463040"/>
            <a:ext cx="6309360" cy="685800"/>
          </a:xfrm>
          <a:prstGeom prst="roundRect">
            <a:avLst>
              <a:gd name="adj" fmla="val 9333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548640" y="146304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Direction Error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502920" y="2331720"/>
            <a:ext cx="6309360" cy="685800"/>
          </a:xfrm>
          <a:prstGeom prst="roundRect">
            <a:avLst>
              <a:gd name="adj" fmla="val 9333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48640" y="233172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Logic Error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502920" y="3200400"/>
            <a:ext cx="6309360" cy="685800"/>
          </a:xfrm>
          <a:prstGeom prst="roundRect">
            <a:avLst>
              <a:gd name="adj" fmla="val 9333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48640" y="320040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Operator Mixing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502920" y="4069080"/>
            <a:ext cx="6309360" cy="685800"/>
          </a:xfrm>
          <a:prstGeom prst="roundRect">
            <a:avLst>
              <a:gd name="adj" fmla="val 9333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48640" y="406908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Terminology Error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Sections 1 and 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FOUR IMPROVEMENT AREAS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270248" y="1005840"/>
            <a:ext cx="3657600" cy="548640"/>
          </a:xfrm>
          <a:prstGeom prst="roundRect">
            <a:avLst>
              <a:gd name="adj" fmla="val 1166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315968" y="10058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 AREAS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257800" cy="1965960"/>
          </a:xfrm>
          <a:prstGeom prst="roundRect">
            <a:avLst>
              <a:gd name="adj" fmla="val 3256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8928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Comparison Direction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395728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&lt; &gt;= &lt;=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2962656"/>
            <a:ext cx="48006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left/right direction sometimes gets reversed.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257800" cy="1965960"/>
          </a:xfrm>
          <a:prstGeom prst="roundRect">
            <a:avLst>
              <a:gd name="adj" fmla="val 3256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0" y="18928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Logical Operators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0" y="2395728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||  !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962656"/>
            <a:ext cx="48006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shortcuts: &amp;&amp; = ALL, || = ANY, ! = NOT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4069080"/>
            <a:ext cx="5257800" cy="1965960"/>
          </a:xfrm>
          <a:prstGeom prst="roundRect">
            <a:avLst>
              <a:gd name="adj" fmla="val 3256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41788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Operator Categories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77240" y="4681728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5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 != !== =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77240" y="5248656"/>
            <a:ext cx="48006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sometimes get mixed.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6172200" y="4069080"/>
            <a:ext cx="5257800" cy="1965960"/>
          </a:xfrm>
          <a:prstGeom prst="roundRect">
            <a:avLst>
              <a:gd name="adj" fmla="val 3256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41788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Exact Technical Terminology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00800" y="4681728"/>
            <a:ext cx="480060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is understood, but technical definitions can sometimes be inaccurate.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DIRECTION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143000"/>
            <a:ext cx="2377440" cy="777240"/>
          </a:xfrm>
          <a:prstGeom prst="roundRect">
            <a:avLst>
              <a:gd name="adj" fmla="val 8235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0120" y="114300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&gt;    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520440" y="1143000"/>
            <a:ext cx="2377440" cy="777240"/>
          </a:xfrm>
          <a:prstGeom prst="roundRect">
            <a:avLst>
              <a:gd name="adj" fmla="val 8235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566160" y="114300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    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126480" y="1143000"/>
            <a:ext cx="2377440" cy="777240"/>
          </a:xfrm>
          <a:prstGeom prst="roundRect">
            <a:avLst>
              <a:gd name="adj" fmla="val 8235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172200" y="114300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&gt;=   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8732520" y="1143000"/>
            <a:ext cx="2377440" cy="777240"/>
          </a:xfrm>
          <a:prstGeom prst="roundRect">
            <a:avLst>
              <a:gd name="adj" fmla="val 8235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778240" y="114300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&lt;=   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914400" y="2148840"/>
            <a:ext cx="10332720" cy="548640"/>
          </a:xfrm>
          <a:prstGeom prst="roundRect">
            <a:avLst>
              <a:gd name="adj" fmla="val 11667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60120" y="214884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PROBLEM:  Left / Right Direction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127248" y="2971800"/>
            <a:ext cx="5943600" cy="548640"/>
          </a:xfrm>
          <a:prstGeom prst="roundRect">
            <a:avLst>
              <a:gd name="adj" fmla="val 1166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72968" y="2971800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&gt; B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6000293" y="350215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3127248" y="3666744"/>
            <a:ext cx="5943600" cy="548640"/>
          </a:xfrm>
          <a:prstGeom prst="roundRect">
            <a:avLst>
              <a:gd name="adj" fmla="val 11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172968" y="3666744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greater than B?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000293" y="419709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3127248" y="4361688"/>
            <a:ext cx="5943600" cy="548640"/>
          </a:xfrm>
          <a:prstGeom prst="roundRect">
            <a:avLst>
              <a:gd name="adj" fmla="val 1166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172968" y="4361688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&gt; 5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6000293" y="489204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3127248" y="5056632"/>
            <a:ext cx="5943600" cy="548640"/>
          </a:xfrm>
          <a:prstGeom prst="roundRect">
            <a:avLst>
              <a:gd name="adj" fmla="val 11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172968" y="5056632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8 greater than 5?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000293" y="558698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5" name="Shape 23"/>
          <p:cNvSpPr/>
          <p:nvPr/>
        </p:nvSpPr>
        <p:spPr>
          <a:xfrm>
            <a:off x="3127248" y="5751576"/>
            <a:ext cx="5943600" cy="548640"/>
          </a:xfrm>
          <a:prstGeom prst="roundRect">
            <a:avLst>
              <a:gd name="adj" fmla="val 1166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172968" y="5751576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Teach: convert every comparison into a sentence, not a visual symbol read. — Sections 2 and 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OPERATORS: CORE RULE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2651760" cy="1051560"/>
          </a:xfrm>
          <a:prstGeom prst="roundRect">
            <a:avLst>
              <a:gd name="adj" fmla="val 608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371600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&gt; B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529584" y="1805940"/>
            <a:ext cx="292608" cy="182880"/>
          </a:xfrm>
          <a:prstGeom prst="rightArrow">
            <a:avLst/>
          </a:prstGeom>
          <a:solidFill>
            <a:srgbClr val="5F6368"/>
          </a:solidFill>
          <a:ln/>
        </p:spPr>
      </p:sp>
      <p:sp>
        <p:nvSpPr>
          <p:cNvPr id="6" name="Shape 4"/>
          <p:cNvSpPr/>
          <p:nvPr/>
        </p:nvSpPr>
        <p:spPr>
          <a:xfrm>
            <a:off x="3931920" y="1371600"/>
            <a:ext cx="7406640" cy="1051560"/>
          </a:xfrm>
          <a:prstGeom prst="roundRect">
            <a:avLst>
              <a:gd name="adj" fmla="val 608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977640" y="137160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is greater than B.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2697480"/>
            <a:ext cx="2651760" cy="1051560"/>
          </a:xfrm>
          <a:prstGeom prst="roundRect">
            <a:avLst>
              <a:gd name="adj" fmla="val 608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2697480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&lt; B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529584" y="3131820"/>
            <a:ext cx="292608" cy="182880"/>
          </a:xfrm>
          <a:prstGeom prst="rightArrow">
            <a:avLst/>
          </a:prstGeom>
          <a:solidFill>
            <a:srgbClr val="5F6368"/>
          </a:solidFill>
          <a:ln/>
        </p:spPr>
      </p:sp>
      <p:sp>
        <p:nvSpPr>
          <p:cNvPr id="11" name="Shape 9"/>
          <p:cNvSpPr/>
          <p:nvPr/>
        </p:nvSpPr>
        <p:spPr>
          <a:xfrm>
            <a:off x="3931920" y="2697480"/>
            <a:ext cx="7406640" cy="1051560"/>
          </a:xfrm>
          <a:prstGeom prst="roundRect">
            <a:avLst>
              <a:gd name="adj" fmla="val 608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977640" y="269748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is less than B.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22960" y="4023360"/>
            <a:ext cx="2651760" cy="1051560"/>
          </a:xfrm>
          <a:prstGeom prst="roundRect">
            <a:avLst>
              <a:gd name="adj" fmla="val 608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4023360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&gt;= B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3529584" y="4457700"/>
            <a:ext cx="292608" cy="182880"/>
          </a:xfrm>
          <a:prstGeom prst="rightArrow">
            <a:avLst/>
          </a:prstGeom>
          <a:solidFill>
            <a:srgbClr val="5F6368"/>
          </a:solidFill>
          <a:ln/>
        </p:spPr>
      </p:sp>
      <p:sp>
        <p:nvSpPr>
          <p:cNvPr id="16" name="Shape 14"/>
          <p:cNvSpPr/>
          <p:nvPr/>
        </p:nvSpPr>
        <p:spPr>
          <a:xfrm>
            <a:off x="3931920" y="4023360"/>
            <a:ext cx="7406640" cy="1051560"/>
          </a:xfrm>
          <a:prstGeom prst="roundRect">
            <a:avLst>
              <a:gd name="adj" fmla="val 608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977640" y="402336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is greater than or equal to B.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22960" y="5349240"/>
            <a:ext cx="2651760" cy="1051560"/>
          </a:xfrm>
          <a:prstGeom prst="roundRect">
            <a:avLst>
              <a:gd name="adj" fmla="val 608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5349240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&lt;= B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3529584" y="5783580"/>
            <a:ext cx="292608" cy="182880"/>
          </a:xfrm>
          <a:prstGeom prst="rightArrow">
            <a:avLst/>
          </a:prstGeom>
          <a:solidFill>
            <a:srgbClr val="5F6368"/>
          </a:solidFill>
          <a:ln/>
        </p:spPr>
      </p:sp>
      <p:sp>
        <p:nvSpPr>
          <p:cNvPr id="21" name="Shape 19"/>
          <p:cNvSpPr/>
          <p:nvPr/>
        </p:nvSpPr>
        <p:spPr>
          <a:xfrm>
            <a:off x="3931920" y="5349240"/>
            <a:ext cx="7406640" cy="1051560"/>
          </a:xfrm>
          <a:prstGeom prst="roundRect">
            <a:avLst>
              <a:gd name="adj" fmla="val 608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977640" y="534924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is less than or equal to B.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DIRECTION NOTES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212848" y="1188720"/>
            <a:ext cx="7772400" cy="475488"/>
          </a:xfrm>
          <a:prstGeom prst="roundRect">
            <a:avLst>
              <a:gd name="adj" fmla="val 1346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258568" y="1188720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Comparison Operators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000293" y="163677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2212848" y="1792224"/>
            <a:ext cx="777240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258568" y="1792224"/>
            <a:ext cx="7680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Always read the expression as a sentence.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00293" y="233172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2212848" y="2487168"/>
            <a:ext cx="7772400" cy="475488"/>
          </a:xfrm>
          <a:prstGeom prst="roundRect">
            <a:avLst>
              <a:gd name="adj" fmla="val 1346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258568" y="2487168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EXAMPLE:  8 &gt; 5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000293" y="293522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2212848" y="3090672"/>
            <a:ext cx="7772400" cy="475488"/>
          </a:xfrm>
          <a:prstGeom prst="roundRect">
            <a:avLst>
              <a:gd name="adj" fmla="val 13462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258568" y="3090672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Is 8 greater than 5?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000293" y="353872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2212848" y="3694176"/>
            <a:ext cx="7772400" cy="475488"/>
          </a:xfrm>
          <a:prstGeom prst="roundRect">
            <a:avLst>
              <a:gd name="adj" fmla="val 13462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258568" y="3694176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True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22960" y="4754880"/>
            <a:ext cx="10515600" cy="1508760"/>
          </a:xfrm>
          <a:prstGeom prst="roundRect">
            <a:avLst>
              <a:gd name="adj" fmla="val 424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51560" y="4864608"/>
            <a:ext cx="1005840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A1A2E"/>
                </a:solidFill>
              </a:rPr>
              <a:t>More Examples
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&gt; 7  →  Is 3 greater than 7?  →  False
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&lt;= 4  →  Is 4 less than or equal to 4?  →  True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DIRECTION DRILL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0881360" cy="960120"/>
          </a:xfrm>
          <a:prstGeom prst="roundRect">
            <a:avLst>
              <a:gd name="adj" fmla="val 6667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243584"/>
            <a:ext cx="10424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 — Recognition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  &lt;   &gt;=   &lt;=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097280" y="2313432"/>
            <a:ext cx="10332720" cy="960120"/>
          </a:xfrm>
          <a:prstGeom prst="roundRect">
            <a:avLst>
              <a:gd name="adj" fmla="val 6667"/>
            </a:avLst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325880" y="2368296"/>
            <a:ext cx="9875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 — Sentence Conversion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25880" y="2679192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&gt; 4   →   Is 9 greater than 4?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1645920" y="3438144"/>
            <a:ext cx="9784080" cy="960120"/>
          </a:xfrm>
          <a:prstGeom prst="roundRect">
            <a:avLst>
              <a:gd name="adj" fmla="val 6667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874520" y="3493008"/>
            <a:ext cx="9326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 — Truth Evaluation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874520" y="3803904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&gt; 4  →  Is 9 greater than 4?  →  True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434840"/>
            <a:ext cx="10698480" cy="640080"/>
          </a:xfrm>
          <a:prstGeom prst="roundRect">
            <a:avLst>
              <a:gd name="adj" fmla="val 10000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443484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RULE:   A &gt; B   →   Is A greater than B?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" y="5166360"/>
            <a:ext cx="10698480" cy="822960"/>
          </a:xfrm>
          <a:prstGeom prst="roundRect">
            <a:avLst>
              <a:gd name="adj" fmla="val 7778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516636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this can be done without thinking, speed does not need to increase.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4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OPERATORS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270248" y="1097280"/>
            <a:ext cx="3657600" cy="594360"/>
          </a:xfrm>
          <a:prstGeom prst="roundRect">
            <a:avLst>
              <a:gd name="adj" fmla="val 10769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315968" y="109728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OPERATORS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436876" y="1874520"/>
            <a:ext cx="246888" cy="27432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148840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21488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2423160" y="3611880"/>
            <a:ext cx="274320" cy="182880"/>
          </a:xfrm>
          <a:prstGeom prst="right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960120" y="3931920"/>
            <a:ext cx="3200400" cy="1005840"/>
          </a:xfrm>
          <a:prstGeom prst="roundRect">
            <a:avLst>
              <a:gd name="adj" fmla="val 6364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05840" y="393192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5865876" y="1874520"/>
            <a:ext cx="246888" cy="27432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4389120" y="2148840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434840" y="21488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</a:t>
            </a:r>
            <a:endParaRPr lang="en-US" sz="5400" dirty="0"/>
          </a:p>
        </p:txBody>
      </p:sp>
      <p:sp>
        <p:nvSpPr>
          <p:cNvPr id="14" name="Shape 12"/>
          <p:cNvSpPr/>
          <p:nvPr/>
        </p:nvSpPr>
        <p:spPr>
          <a:xfrm>
            <a:off x="5852160" y="3611880"/>
            <a:ext cx="274320" cy="182880"/>
          </a:xfrm>
          <a:prstGeom prst="right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4389120" y="3931920"/>
            <a:ext cx="3200400" cy="1005840"/>
          </a:xfrm>
          <a:prstGeom prst="roundRect">
            <a:avLst>
              <a:gd name="adj" fmla="val 6364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434840" y="393192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294876" y="1874520"/>
            <a:ext cx="246888" cy="27432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7818120" y="2148840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863840" y="21488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5400" dirty="0"/>
          </a:p>
        </p:txBody>
      </p:sp>
      <p:sp>
        <p:nvSpPr>
          <p:cNvPr id="20" name="Shape 18"/>
          <p:cNvSpPr/>
          <p:nvPr/>
        </p:nvSpPr>
        <p:spPr>
          <a:xfrm>
            <a:off x="9281160" y="3611880"/>
            <a:ext cx="274320" cy="182880"/>
          </a:xfrm>
          <a:prstGeom prst="rightArrow">
            <a:avLst/>
          </a:prstGeom>
          <a:solidFill>
            <a:srgbClr val="1A1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7818120" y="3931920"/>
            <a:ext cx="3200400" cy="1005840"/>
          </a:xfrm>
          <a:prstGeom prst="roundRect">
            <a:avLst>
              <a:gd name="adj" fmla="val 6364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863840" y="393192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5 — no truth tables or added Boolean concepts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&amp;&amp;  LOGICAL AND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143000"/>
            <a:ext cx="493776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143000" y="114300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467405" y="169164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856232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1856232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AND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67405" y="231343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2478024"/>
            <a:ext cx="4937760" cy="658368"/>
          </a:xfrm>
          <a:prstGeom prst="roundRect">
            <a:avLst>
              <a:gd name="adj" fmla="val 9722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43000" y="2478024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logical AND operator evaluates to true only when both operands are true.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3467405" y="311810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280" y="3282696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143000" y="3282696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Model: ALL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0" y="1280160"/>
            <a:ext cx="4114800" cy="128016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543800" y="141732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&amp;&amp; true
</a:t>
            </a:r>
            <a:endParaRPr lang="en-US" sz="2000" dirty="0"/>
          </a:p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Both are true. → </a:t>
            </a:r>
            <a:r>
              <a:rPr lang="en-US" sz="16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15200" y="2743200"/>
            <a:ext cx="4114800" cy="1371600"/>
          </a:xfrm>
          <a:prstGeom prst="roundRect">
            <a:avLst>
              <a:gd name="adj" fmla="val 466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43800" y="288036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&amp;&amp; false
</a:t>
            </a:r>
            <a:endParaRPr lang="en-US" sz="2000" dirty="0"/>
          </a:p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All true नहीं हैं। → </a:t>
            </a:r>
            <a:r>
              <a:rPr lang="en-US" sz="16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6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||  LOGICAL OR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143000"/>
            <a:ext cx="493776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143000" y="114300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467405" y="169164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856232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1856232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OR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67405" y="231343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2478024"/>
            <a:ext cx="4937760" cy="658368"/>
          </a:xfrm>
          <a:prstGeom prst="roundRect">
            <a:avLst>
              <a:gd name="adj" fmla="val 9722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43000" y="2478024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logical OR operator evaluates to true when at least one operand is true.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3467405" y="311810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280" y="3282696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143000" y="3282696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Model: ANY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315200" y="1280160"/>
            <a:ext cx="4114800" cy="128016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543800" y="141732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|| false
</a:t>
            </a:r>
            <a:endParaRPr lang="en-US" sz="2000" dirty="0"/>
          </a:p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At least one true है। → </a:t>
            </a:r>
            <a:r>
              <a:rPr lang="en-US" sz="16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15200" y="2743200"/>
            <a:ext cx="4114800" cy="1371600"/>
          </a:xfrm>
          <a:prstGeom prst="roundRect">
            <a:avLst>
              <a:gd name="adj" fmla="val 466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43800" y="288036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 || false
</a:t>
            </a:r>
            <a:endParaRPr lang="en-US" sz="2000" dirty="0"/>
          </a:p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कोई भी true नहीं है। → </a:t>
            </a:r>
            <a:r>
              <a:rPr lang="en-US" sz="16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7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LOGICAL NOT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143000"/>
            <a:ext cx="493776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143000" y="114300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467405" y="170078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874520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1874520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NOT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67405" y="234086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2514600"/>
            <a:ext cx="493776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43000" y="251460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logical NOT operator negates a Boolean value.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467405" y="307238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280" y="3246120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143000" y="3246120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Model: NOT / Reverse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680960" y="1463040"/>
            <a:ext cx="329184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26680" y="146304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!true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9195206" y="2377440"/>
            <a:ext cx="263347" cy="292608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0" y="2743200"/>
            <a:ext cx="3291840" cy="822960"/>
          </a:xfrm>
          <a:prstGeom prst="roundRect">
            <a:avLst>
              <a:gd name="adj" fmla="val 7778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726680" y="274320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7680960" y="3794760"/>
            <a:ext cx="329184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26680" y="3794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!false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9195206" y="4709160"/>
            <a:ext cx="263347" cy="292608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0960" y="5074920"/>
            <a:ext cx="3291840" cy="822960"/>
          </a:xfrm>
          <a:prstGeom prst="roundRect">
            <a:avLst>
              <a:gd name="adj" fmla="val 7778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26680" y="507492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8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OPERATORS — WORKING NOTES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1188720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188720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06240" y="1188720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251960" y="1188720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AND (&amp;&amp;)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1956816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956816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Definition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06240" y="1956816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1956816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true only when both operands are true.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2724912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2724912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Shortcut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206240" y="2724912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251960" y="2724912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22960" y="3493008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493008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206240" y="3493008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51960" y="3493008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&amp;&amp; false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22960" y="4261104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68680" y="4261104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206240" y="4261104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251960" y="4261104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22960" y="5029200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68680" y="5029200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Explanation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206240" y="5029200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251960" y="5029200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conditions must be true.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template — Source: Section 9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CATEGORIES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727448" y="1188720"/>
            <a:ext cx="2743200" cy="594360"/>
          </a:xfrm>
          <a:prstGeom prst="roundRect">
            <a:avLst>
              <a:gd name="adj" fmla="val 10769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773168" y="118872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099048" y="1783080"/>
            <a:ext cx="0" cy="822960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606040"/>
            <a:ext cx="2560320" cy="914400"/>
          </a:xfrm>
          <a:prstGeom prst="roundRect">
            <a:avLst>
              <a:gd name="adj" fmla="val 7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6060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099048" y="1783080"/>
            <a:ext cx="0" cy="822960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11880" y="2606040"/>
            <a:ext cx="2560320" cy="9144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0" y="26060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6099048" y="1783080"/>
            <a:ext cx="1627632" cy="822960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46520" y="2606040"/>
            <a:ext cx="2560320" cy="914400"/>
          </a:xfrm>
          <a:prstGeom prst="roundRect">
            <a:avLst>
              <a:gd name="adj" fmla="val 700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92240" y="26060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6099048" y="1783080"/>
            <a:ext cx="4462272" cy="822960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81160" y="2606040"/>
            <a:ext cx="2560320" cy="914400"/>
          </a:xfrm>
          <a:prstGeom prst="roundRect">
            <a:avLst>
              <a:gd name="adj" fmla="val 7000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326880" y="26060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structure only — operators are added on later slides. Source: Sections 10–14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OPERATOR FAMILIES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2377440" cy="438912"/>
          </a:xfrm>
          <a:prstGeom prst="roundRect">
            <a:avLst>
              <a:gd name="adj" fmla="val 14583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18872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017520" y="1188720"/>
            <a:ext cx="4114800" cy="438912"/>
          </a:xfrm>
          <a:prstGeom prst="roundRect">
            <a:avLst>
              <a:gd name="adj" fmla="val 14583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063240" y="1188720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0" y="1188720"/>
            <a:ext cx="4023360" cy="438912"/>
          </a:xfrm>
          <a:prstGeom prst="roundRect">
            <a:avLst>
              <a:gd name="adj" fmla="val 14583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60920" y="1188720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2377440" cy="914400"/>
          </a:xfrm>
          <a:prstGeom prst="roundRect">
            <a:avLst>
              <a:gd name="adj" fmla="val 7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16916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017520" y="1691640"/>
            <a:ext cx="4114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063240" y="1691640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7315200" y="1691640"/>
            <a:ext cx="4023360" cy="914400"/>
          </a:xfrm>
          <a:prstGeom prst="roundRect">
            <a:avLst>
              <a:gd name="adj" fmla="val 7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60920" y="169164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/ ASSIGN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2715768"/>
            <a:ext cx="2377440" cy="9144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2715768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3017520" y="2715768"/>
            <a:ext cx="4114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063240" y="2715768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 -  *  /  %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7315200" y="2715768"/>
            <a:ext cx="4023360" cy="9144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60920" y="2715768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3739896"/>
            <a:ext cx="2377440" cy="914400"/>
          </a:xfrm>
          <a:prstGeom prst="roundRect">
            <a:avLst>
              <a:gd name="adj" fmla="val 700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94360" y="3739896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3017520" y="3739896"/>
            <a:ext cx="4114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063240" y="3739896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&lt; &gt;= &lt;= == != === !==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7315200" y="3739896"/>
            <a:ext cx="4023360" cy="914400"/>
          </a:xfrm>
          <a:prstGeom prst="roundRect">
            <a:avLst>
              <a:gd name="adj" fmla="val 700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360920" y="3739896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548640" y="4764024"/>
            <a:ext cx="2377440" cy="914400"/>
          </a:xfrm>
          <a:prstGeom prst="roundRect">
            <a:avLst>
              <a:gd name="adj" fmla="val 7000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94360" y="4764024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lang="en-US" sz="1900" dirty="0"/>
          </a:p>
        </p:txBody>
      </p:sp>
      <p:sp>
        <p:nvSpPr>
          <p:cNvPr id="29" name="Shape 27"/>
          <p:cNvSpPr/>
          <p:nvPr/>
        </p:nvSpPr>
        <p:spPr>
          <a:xfrm>
            <a:off x="3017520" y="4764024"/>
            <a:ext cx="4114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063240" y="4764024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||  !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7315200" y="4764024"/>
            <a:ext cx="4023360" cy="914400"/>
          </a:xfrm>
          <a:prstGeom prst="roundRect">
            <a:avLst>
              <a:gd name="adj" fmla="val 7000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360920" y="4764024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/ NEGATE CONDITIONS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Sections 11–14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OPERATOR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264408" y="2194560"/>
            <a:ext cx="5669280" cy="685800"/>
          </a:xfrm>
          <a:prstGeom prst="roundRect">
            <a:avLst>
              <a:gd name="adj" fmla="val 9333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310128" y="2194560"/>
            <a:ext cx="5577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000293" y="288036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3264408" y="3063240"/>
            <a:ext cx="5669280" cy="64008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310128" y="3063240"/>
            <a:ext cx="5577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assignment operator assigns a value to a variable.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00293" y="370332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3264408" y="3886200"/>
            <a:ext cx="5669280" cy="548640"/>
          </a:xfrm>
          <a:prstGeom prst="roundRect">
            <a:avLst>
              <a:gd name="adj" fmla="val 1166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10128" y="3886200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 age = 20;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000293" y="443484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3264408" y="4617720"/>
            <a:ext cx="5669280" cy="502920"/>
          </a:xfrm>
          <a:prstGeom prst="roundRect">
            <a:avLst>
              <a:gd name="adj" fmla="val 1272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310128" y="4617720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Model: STORE / ASSIGN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11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OPERATORS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194560" y="1965960"/>
            <a:ext cx="7772400" cy="822960"/>
          </a:xfrm>
          <a:prstGeom prst="roundRect">
            <a:avLst>
              <a:gd name="adj" fmla="val 7778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240280" y="196596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5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  −   ×   ÷   %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975604" y="2880360"/>
            <a:ext cx="246888" cy="27432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4270248" y="3200400"/>
            <a:ext cx="3657600" cy="594360"/>
          </a:xfrm>
          <a:prstGeom prst="roundRect">
            <a:avLst>
              <a:gd name="adj" fmla="val 10769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315968" y="320040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41605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41605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+ 2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971800" y="41605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17520" y="41605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5 - 2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120640" y="41605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166360" y="41605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* 2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269480" y="41605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0" y="41605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2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418320" y="41605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464040" y="41605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5 % 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12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OPERATORS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51560" y="1965960"/>
            <a:ext cx="10058400" cy="777240"/>
          </a:xfrm>
          <a:prstGeom prst="roundRect">
            <a:avLst>
              <a:gd name="adj" fmla="val 8235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97280" y="1965960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&lt; &gt;= &lt;= == != === !==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975604" y="2834640"/>
            <a:ext cx="246888" cy="27432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4480560" y="3154680"/>
            <a:ext cx="3291840" cy="548640"/>
          </a:xfrm>
          <a:prstGeom prst="roundRect">
            <a:avLst>
              <a:gd name="adj" fmla="val 1166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26280" y="315468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051560" y="4023360"/>
            <a:ext cx="242316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97280" y="4023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&gt; 3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657600" y="4023360"/>
            <a:ext cx="242316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703320" y="4023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!= 3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63640" y="4023360"/>
            <a:ext cx="242316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09360" y="4023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=== 5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869680" y="4023360"/>
            <a:ext cx="242316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915400" y="4023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!== "5"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OPERATORS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108960" y="2331720"/>
            <a:ext cx="5943600" cy="868680"/>
          </a:xfrm>
          <a:prstGeom prst="roundRect">
            <a:avLst>
              <a:gd name="adj" fmla="val 7368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154680" y="2331720"/>
            <a:ext cx="5852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  ||    !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955030" y="3337560"/>
            <a:ext cx="288036" cy="32004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2880360" y="3703320"/>
            <a:ext cx="6400800" cy="685800"/>
          </a:xfrm>
          <a:prstGeom prst="roundRect">
            <a:avLst>
              <a:gd name="adj" fmla="val 9333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926080" y="370332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/ NEGATE CONDITIONS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14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FAMILY NOTEBOOK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441448" y="1188720"/>
            <a:ext cx="7315200" cy="566928"/>
          </a:xfrm>
          <a:prstGeom prst="roundRect">
            <a:avLst>
              <a:gd name="adj" fmla="val 11290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487168" y="1188720"/>
            <a:ext cx="7223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 OPERATOR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000293" y="175564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2441448" y="1938528"/>
            <a:ext cx="731520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87168" y="1938528"/>
            <a:ext cx="7223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Family पहचानो।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000293" y="250545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2441448" y="2688336"/>
            <a:ext cx="7315200" cy="566928"/>
          </a:xfrm>
          <a:prstGeom prst="roundRect">
            <a:avLst>
              <a:gd name="adj" fmla="val 1129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87168" y="2688336"/>
            <a:ext cx="7223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Technical meaning बताओ।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000293" y="325526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2441448" y="3438144"/>
            <a:ext cx="7315200" cy="566928"/>
          </a:xfrm>
          <a:prstGeom prst="roundRect">
            <a:avLst>
              <a:gd name="adj" fmla="val 1129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487168" y="3438144"/>
            <a:ext cx="7223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Example दो।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000293" y="400507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2441448" y="4187952"/>
            <a:ext cx="7315200" cy="594360"/>
          </a:xfrm>
          <a:prstGeom prst="roundRect">
            <a:avLst>
              <a:gd name="adj" fmla="val 10769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487168" y="418795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Operator-mixing problem gradually decreases.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15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TECHNICAL TERMINOLOGY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698480" cy="777240"/>
          </a:xfrm>
          <a:prstGeom prst="roundRect">
            <a:avLst>
              <a:gd name="adj" fmla="val 8235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09728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a concept ≠ accurately stating its technical definition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3383280" cy="594360"/>
          </a:xfrm>
          <a:prstGeom prst="roundRect">
            <a:avLst>
              <a:gd name="adj" fmla="val 10769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05740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Technical Definition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389120" y="2057400"/>
            <a:ext cx="3383280" cy="594360"/>
          </a:xfrm>
          <a:prstGeom prst="roundRect">
            <a:avLst>
              <a:gd name="adj" fmla="val 10769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34840" y="205740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Example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955280" y="2057400"/>
            <a:ext cx="3383280" cy="594360"/>
          </a:xfrm>
          <a:prstGeom prst="roundRect">
            <a:avLst>
              <a:gd name="adj" fmla="val 10769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001000" y="205740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My Explanation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2670048" y="3017520"/>
            <a:ext cx="6858000" cy="594360"/>
          </a:xfrm>
          <a:prstGeom prst="roundRect">
            <a:avLst>
              <a:gd name="adj" fmla="val 10769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15768" y="3017520"/>
            <a:ext cx="6766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1: Technical Definition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000293" y="363474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2670048" y="3840480"/>
            <a:ext cx="6858000" cy="594360"/>
          </a:xfrm>
          <a:prstGeom prst="roundRect">
            <a:avLst>
              <a:gd name="adj" fmla="val 10769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715768" y="3840480"/>
            <a:ext cx="6766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2: Simple Explanation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000293" y="445770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2670048" y="4663440"/>
            <a:ext cx="6858000" cy="594360"/>
          </a:xfrm>
          <a:prstGeom prst="roundRect">
            <a:avLst>
              <a:gd name="adj" fmla="val 10769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715768" y="4663440"/>
            <a:ext cx="6766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3: Example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accuracy and simple understanding are connected. Source: Sections 16–18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OPERATOR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0" y="9601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→ SHOW → EXPLAIN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3383280" cy="502920"/>
          </a:xfrm>
          <a:prstGeom prst="roundRect">
            <a:avLst>
              <a:gd name="adj" fmla="val 12727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3383280" cy="1554480"/>
          </a:xfrm>
          <a:prstGeom prst="roundRect">
            <a:avLst>
              <a:gd name="adj" fmla="val 4118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96596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assignment operator assigns a value to a variable.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51960" y="1371600"/>
            <a:ext cx="3383280" cy="502920"/>
          </a:xfrm>
          <a:prstGeom prst="roundRect">
            <a:avLst>
              <a:gd name="adj" fmla="val 12727"/>
            </a:avLst>
          </a:prstGeom>
          <a:solidFill>
            <a:srgbClr val="F57C0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297680" y="1371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251960" y="1965960"/>
            <a:ext cx="3383280" cy="1554480"/>
          </a:xfrm>
          <a:prstGeom prst="roundRect">
            <a:avLst>
              <a:gd name="adj" fmla="val 4118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97680" y="196596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 x = 10;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818120" y="1371600"/>
            <a:ext cx="3383280" cy="502920"/>
          </a:xfrm>
          <a:prstGeom prst="roundRect">
            <a:avLst>
              <a:gd name="adj" fmla="val 12727"/>
            </a:avLst>
          </a:prstGeom>
          <a:solidFill>
            <a:srgbClr val="2E7D32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863840" y="1371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7818120" y="1965960"/>
            <a:ext cx="3383280" cy="1554480"/>
          </a:xfrm>
          <a:prstGeom prst="roundRect">
            <a:avLst>
              <a:gd name="adj" fmla="val 4118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863840" y="196596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के अंदर 10 store करना।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17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AND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0" y="9601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→ EXAMPLE → PERSONAL EXPLANATION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2441448" y="1371600"/>
            <a:ext cx="7315200" cy="685800"/>
          </a:xfrm>
          <a:prstGeom prst="roundRect">
            <a:avLst>
              <a:gd name="adj" fmla="val 9333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487168" y="1371600"/>
            <a:ext cx="7223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&amp;&amp; operator returns true only when both operands are truthy.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000293" y="204825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7" name="Shape 5"/>
          <p:cNvSpPr/>
          <p:nvPr/>
        </p:nvSpPr>
        <p:spPr>
          <a:xfrm>
            <a:off x="2441448" y="2221992"/>
            <a:ext cx="731520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87168" y="2221992"/>
            <a:ext cx="7223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&amp;&amp; true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000293" y="271576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0" name="Shape 8"/>
          <p:cNvSpPr/>
          <p:nvPr/>
        </p:nvSpPr>
        <p:spPr>
          <a:xfrm>
            <a:off x="2441448" y="2889504"/>
            <a:ext cx="7315200" cy="502920"/>
          </a:xfrm>
          <a:prstGeom prst="roundRect">
            <a:avLst>
              <a:gd name="adj" fmla="val 1272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87168" y="2889504"/>
            <a:ext cx="7223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Result: true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000293" y="338328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2441448" y="3557016"/>
            <a:ext cx="7315200" cy="548640"/>
          </a:xfrm>
          <a:prstGeom prst="roundRect">
            <a:avLst>
              <a:gd name="adj" fmla="val 11667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487168" y="3557016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दोनों conditions pass होनी चाहिए।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17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NOT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234440"/>
            <a:ext cx="4846320" cy="594360"/>
          </a:xfrm>
          <a:prstGeom prst="roundRect">
            <a:avLst>
              <a:gd name="adj" fmla="val 10769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143000" y="123444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! operator negates a Boolean value.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421685" y="181965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993392"/>
            <a:ext cx="484632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199339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!true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421685" y="248716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2660904"/>
            <a:ext cx="4846320" cy="502920"/>
          </a:xfrm>
          <a:prstGeom prst="roundRect">
            <a:avLst>
              <a:gd name="adj" fmla="val 12727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43000" y="266090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Result: false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421685" y="315468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280" y="3328416"/>
            <a:ext cx="4846320" cy="548640"/>
          </a:xfrm>
          <a:prstGeom prst="roundRect">
            <a:avLst>
              <a:gd name="adj" fmla="val 11667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143000" y="3328416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को उल्टा करके false करता है।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680960" y="2286000"/>
            <a:ext cx="1920240" cy="777240"/>
          </a:xfrm>
          <a:prstGeom prst="roundRect">
            <a:avLst>
              <a:gd name="adj" fmla="val 8235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26680" y="228600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646920" y="2555748"/>
            <a:ext cx="365760" cy="228600"/>
          </a:xfrm>
          <a:prstGeom prst="rightArrow">
            <a:avLst/>
          </a:prstGeom>
          <a:solidFill>
            <a:srgbClr val="1A1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058400" y="2286000"/>
            <a:ext cx="640080" cy="777240"/>
          </a:xfrm>
          <a:prstGeom prst="roundRect">
            <a:avLst>
              <a:gd name="adj" fmla="val 10000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104120" y="2286000"/>
            <a:ext cx="548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7680960" y="3383280"/>
            <a:ext cx="3017520" cy="777240"/>
          </a:xfrm>
          <a:prstGeom prst="roundRect">
            <a:avLst>
              <a:gd name="adj" fmla="val 8235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26680" y="338328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8915400" y="3108960"/>
            <a:ext cx="219456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17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NOTES TEMPLATE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188720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26187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Technical Definition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1883664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502920" y="2212848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2860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Simple Meaning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2907792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02920" y="3236976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331012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Mental Shortcut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931920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502920" y="4261104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433425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Syntax / Operator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" y="4956048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02920" y="5285232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535838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Example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980176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80760" y="1188720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263640" y="126187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Result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63640" y="1883664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80760" y="2212848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263640" y="22860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Why?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263640" y="2907792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6080760" y="3236976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263640" y="331012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Common Mistake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263640" y="3931920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080760" y="4261104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263640" y="433425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My Explanation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263640" y="4956048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080760" y="5285232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263640" y="535838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One Recall Question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263640" y="5980176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usable study template — Source: Section 19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LOG: THE MOST IMPORTANT PART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18872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Mistake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35885" y="166420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819656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819656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735885" y="229514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2450592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4505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Rule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735885" y="292608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685800" y="3081528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3081528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Example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735885" y="355701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3712464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31520" y="3712464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Retest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852160" y="1143000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897880" y="11430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549640" y="1143000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95360" y="114300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&gt; 8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852160" y="1709928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897880" y="170992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ANSWER: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549640" y="1709928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595360" y="170992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852160" y="2276856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897880" y="227685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ANSWER: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549640" y="2276856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595360" y="2276856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852160" y="2843784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897880" y="2843784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WAS I WRONG?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549640" y="2843784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595360" y="2843784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reversed the comparison direction.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852160" y="3410712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897880" y="341071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CONCEPT: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549640" y="3410712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595360" y="3410712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"Is 5 greater than 8?"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852160" y="3977640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897880" y="39776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PREVENTION: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8549640" y="3977640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8595360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every comparison into a sentence.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20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RECALL METHOD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23444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735885" y="170992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865376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865376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NOTES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735885" y="234086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2496312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49631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PAGE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2735885" y="297180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685800" y="3127248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3127248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2735885" y="360273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3758184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31520" y="3758184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806440" y="1234440"/>
            <a:ext cx="5806440" cy="4480560"/>
          </a:xfrm>
          <a:prstGeom prst="roundRect">
            <a:avLst>
              <a:gd name="adj" fmla="val 1429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080760" y="1417320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Questions
</a:t>
            </a:r>
            <a:endParaRPr lang="en-US" sz="18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What does &gt; mean?
</a:t>
            </a:r>
            <a:endParaRPr lang="en-US" sz="18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What does &lt; mean?
</a:t>
            </a:r>
            <a:endParaRPr lang="en-US" sz="18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What does &gt;= mean?
</a:t>
            </a:r>
            <a:endParaRPr lang="en-US" sz="18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What does &lt;= mean?
</a:t>
            </a:r>
            <a:endParaRPr lang="en-US" sz="18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How do I avoid direction mistakes?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22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LEVELS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881360" cy="841248"/>
          </a:xfrm>
          <a:prstGeom prst="roundRect">
            <a:avLst>
              <a:gd name="adj" fmla="val 7609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197864"/>
            <a:ext cx="10424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1: Recognition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1508760"/>
            <a:ext cx="10424160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→  Logical operator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32688" y="2075688"/>
            <a:ext cx="10497312" cy="841248"/>
          </a:xfrm>
          <a:prstGeom prst="roundRect">
            <a:avLst>
              <a:gd name="adj" fmla="val 7609"/>
            </a:avLst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61288" y="2130552"/>
            <a:ext cx="100401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2: Meaning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61288" y="2441448"/>
            <a:ext cx="10040112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→  AND / ALL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16736" y="3008376"/>
            <a:ext cx="10113264" cy="841248"/>
          </a:xfrm>
          <a:prstGeom prst="roundRect">
            <a:avLst>
              <a:gd name="adj" fmla="val 7609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545336" y="3063240"/>
            <a:ext cx="96560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3: Application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45336" y="3374136"/>
            <a:ext cx="9656064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&amp;&amp; false  →  false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700784" y="3941064"/>
            <a:ext cx="9729216" cy="841248"/>
          </a:xfrm>
          <a:prstGeom prst="roundRect">
            <a:avLst>
              <a:gd name="adj" fmla="val 7609"/>
            </a:avLst>
          </a:prstGeom>
          <a:solidFill>
            <a:srgbClr val="FDECEA"/>
          </a:solidFill>
          <a:ln w="19050">
            <a:solidFill>
              <a:srgbClr val="D32F2F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929384" y="3995928"/>
            <a:ext cx="927201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4: Explanation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929384" y="4306824"/>
            <a:ext cx="9272016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the answer false?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084832" y="4873752"/>
            <a:ext cx="9345168" cy="841248"/>
          </a:xfrm>
          <a:prstGeom prst="roundRect">
            <a:avLst>
              <a:gd name="adj" fmla="val 7609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313432" y="4928616"/>
            <a:ext cx="88879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5: Technical Definition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313432" y="5239512"/>
            <a:ext cx="8887968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&amp;&amp; operator technically.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PRACTICE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18872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What family does = belong to?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172200" y="118872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17920" y="118872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Q2. What does &amp;&amp; mean?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24028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Q3. Is 7 &gt; 10 true or false?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172200" y="224028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17920" y="224028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Q4. What does ! do?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29184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29184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Q5. What is the difference between != and !==?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72200" y="329184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17920" y="329184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Q6. Give a technical definition of ===.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434340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434340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Q7. What family does !== belong to?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72200" y="434340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17920" y="434340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Q8. Evaluate: true || false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023360" y="5440680"/>
            <a:ext cx="411480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069080" y="544068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SWITCHING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appear only where present in the source. Source: Section 24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AUTOMATICITY TRAINING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023360" y="1051560"/>
            <a:ext cx="411480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069080" y="105156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understand it."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3834" y="1627632"/>
            <a:ext cx="230429" cy="256032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3355848" y="1920240"/>
            <a:ext cx="5486400" cy="502920"/>
          </a:xfrm>
          <a:prstGeom prst="roundRect">
            <a:avLst>
              <a:gd name="adj" fmla="val 1272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01568" y="192024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000293" y="239572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3355848" y="2551176"/>
            <a:ext cx="5486400" cy="411480"/>
          </a:xfrm>
          <a:prstGeom prst="roundRect">
            <a:avLst>
              <a:gd name="adj" fmla="val 15556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01568" y="2551176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but correct.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000293" y="293522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3355848" y="3090672"/>
            <a:ext cx="5486400" cy="502920"/>
          </a:xfrm>
          <a:prstGeom prst="roundRect">
            <a:avLst>
              <a:gd name="adj" fmla="val 12727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401568" y="3090672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000293" y="356616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3355848" y="3721608"/>
            <a:ext cx="5486400" cy="411480"/>
          </a:xfrm>
          <a:prstGeom prst="roundRect">
            <a:avLst>
              <a:gd name="adj" fmla="val 15556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401568" y="3721608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correct.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000293" y="410565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3355848" y="4261104"/>
            <a:ext cx="5486400" cy="502920"/>
          </a:xfrm>
          <a:prstGeom prst="roundRect">
            <a:avLst>
              <a:gd name="adj" fmla="val 1272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401568" y="4261104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AUTOMATICITY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6000293" y="473659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3355848" y="4892040"/>
            <a:ext cx="5486400" cy="411480"/>
          </a:xfrm>
          <a:prstGeom prst="roundRect">
            <a:avLst>
              <a:gd name="adj" fmla="val 15556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401568" y="489204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questions में भी correct.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983834" y="5257800"/>
            <a:ext cx="230429" cy="256032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4" name="Shape 22"/>
          <p:cNvSpPr/>
          <p:nvPr/>
        </p:nvSpPr>
        <p:spPr>
          <a:xfrm>
            <a:off x="3108960" y="5577840"/>
            <a:ext cx="5943600" cy="594360"/>
          </a:xfrm>
          <a:prstGeom prst="roundRect">
            <a:avLst>
              <a:gd name="adj" fmla="val 10769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154680" y="5577840"/>
            <a:ext cx="5852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recognize it correctly without hesitation."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25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30-MINUTE IMPROVEMENT SYSTEM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26280" y="2880360"/>
            <a:ext cx="3108960" cy="1371600"/>
          </a:xfrm>
          <a:prstGeom prst="roundRect">
            <a:avLst>
              <a:gd name="adj" fmla="val 466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0" y="288036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600" dirty="0"/>
          </a:p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26280" y="1143000"/>
            <a:ext cx="3108960" cy="1051560"/>
          </a:xfrm>
          <a:prstGeom prst="roundRect">
            <a:avLst>
              <a:gd name="adj" fmla="val 6087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636008" y="1143000"/>
            <a:ext cx="28895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 — Recall
</a:t>
            </a:r>
            <a:endParaRPr lang="en-US" sz="15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कल के concepts बिना notes देखे।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0" y="1874520"/>
            <a:ext cx="3566160" cy="1051560"/>
          </a:xfrm>
          <a:prstGeom prst="roundRect">
            <a:avLst>
              <a:gd name="adj" fmla="val 6087"/>
            </a:avLst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339328" y="1874520"/>
            <a:ext cx="33467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 — Targeted Practice
</a:t>
            </a:r>
            <a:endParaRPr lang="en-US" sz="15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आज केवल एक weak area।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0" y="3429000"/>
            <a:ext cx="3566160" cy="1051560"/>
          </a:xfrm>
          <a:prstGeom prst="roundRect">
            <a:avLst>
              <a:gd name="adj" fmla="val 6087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339328" y="3429000"/>
            <a:ext cx="33467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 — Technical Definition
</a:t>
            </a:r>
            <a:endParaRPr lang="en-US" sz="15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 concepts की one-line definitions।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11480" y="3429000"/>
            <a:ext cx="3566160" cy="1051560"/>
          </a:xfrm>
          <a:prstGeom prst="roundRect">
            <a:avLst>
              <a:gd name="adj" fmla="val 6087"/>
            </a:avLst>
          </a:prstGeom>
          <a:solidFill>
            <a:srgbClr val="FDECEA"/>
          </a:solidFill>
          <a:ln w="19050">
            <a:solidFill>
              <a:srgbClr val="D32F2F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21208" y="3429000"/>
            <a:ext cx="33467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 — Error Log
</a:t>
            </a:r>
            <a:endParaRPr lang="en-US" sz="15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आज की mistakes।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11480" y="1874520"/>
            <a:ext cx="3566160" cy="1051560"/>
          </a:xfrm>
          <a:prstGeom prst="roundRect">
            <a:avLst>
              <a:gd name="adj" fmla="val 6087"/>
            </a:avLst>
          </a:prstGeom>
          <a:solidFill>
            <a:srgbClr val="FFF8E1"/>
          </a:solidFill>
          <a:ln w="19050">
            <a:solidFill>
              <a:srgbClr val="F9A825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21208" y="1874520"/>
            <a:ext cx="33467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 — Retest
</a:t>
            </a:r>
            <a:endParaRPr lang="en-US" sz="15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आज के गलत questions फिर से।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291840" y="4892040"/>
            <a:ext cx="55778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337560" y="489204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steady rotation, not a strict order — repeated daily.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26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IMPROVEMENT CYCLE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05740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F57C0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10312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05740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0312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Operators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74904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2E7D32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9476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74904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79476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Categories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4068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D32F2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THURSDAY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4068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Terminology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13232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17804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13232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7804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Practice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882396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5F6368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86968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SATURDAY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82396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86968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Retest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1051560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F9A825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056132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SUNDAY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1051560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056132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Test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1097280" y="5074920"/>
            <a:ext cx="9966960" cy="777240"/>
          </a:xfrm>
          <a:prstGeom prst="roundRect">
            <a:avLst>
              <a:gd name="adj" fmla="val 8235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143000" y="5074920"/>
            <a:ext cx="9875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one area has more errors, increase its practice volume next week.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27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TRACKING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1089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2344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794760" y="1234440"/>
            <a:ext cx="237744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840480" y="12344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17920" y="1234440"/>
            <a:ext cx="237744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263640" y="12344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641080" y="1234440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0" y="12344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1783080"/>
            <a:ext cx="31089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1783080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794760" y="1783080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840480" y="178308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217920" y="1783080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263640" y="178308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94%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641080" y="1783080"/>
            <a:ext cx="26517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0" y="1783080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Strong/Mastered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2404872"/>
            <a:ext cx="31089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" y="2404872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3794760" y="2404872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840480" y="240487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217920" y="2404872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63640" y="240487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8641080" y="2404872"/>
            <a:ext cx="26517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686800" y="2404872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Improving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3026664"/>
            <a:ext cx="31089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85800" y="3026664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3794760" y="3026664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840480" y="3026664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6217920" y="3026664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263640" y="3026664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90%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8641080" y="3026664"/>
            <a:ext cx="26517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686800" y="3026664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Strong/Mastered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648456"/>
            <a:ext cx="31089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85800" y="3648456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Terminology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3794760" y="3648456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3840480" y="3648456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1700" dirty="0"/>
          </a:p>
        </p:txBody>
      </p:sp>
      <p:sp>
        <p:nvSpPr>
          <p:cNvPr id="39" name="Shape 37"/>
          <p:cNvSpPr/>
          <p:nvPr/>
        </p:nvSpPr>
        <p:spPr>
          <a:xfrm>
            <a:off x="6217920" y="3648456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263640" y="3648456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75%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8641080" y="3648456"/>
            <a:ext cx="26517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686800" y="3648456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Weak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407408"/>
            <a:ext cx="2606040" cy="685800"/>
          </a:xfrm>
          <a:prstGeom prst="roundRect">
            <a:avLst>
              <a:gd name="adj" fmla="val 9333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85800" y="4407408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&lt; 80%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383280" y="4407408"/>
            <a:ext cx="2606040" cy="685800"/>
          </a:xfrm>
          <a:prstGeom prst="roundRect">
            <a:avLst>
              <a:gd name="adj" fmla="val 9333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3429000" y="4407408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80–89%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126480" y="4407408"/>
            <a:ext cx="2606040" cy="685800"/>
          </a:xfrm>
          <a:prstGeom prst="roundRect">
            <a:avLst>
              <a:gd name="adj" fmla="val 9333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6172200" y="4407408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90–94%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869680" y="4407408"/>
            <a:ext cx="2606040" cy="685800"/>
          </a:xfrm>
          <a:prstGeom prst="roundRect">
            <a:avLst>
              <a:gd name="adj" fmla="val 9333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8915400" y="4407408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95%+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Mastered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28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TEST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257800" cy="2148840"/>
          </a:xfrm>
          <a:prstGeom prst="roundRect">
            <a:avLst>
              <a:gd name="adj" fmla="val 2979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48132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77240" y="1984248"/>
            <a:ext cx="4800600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direction सही पढ़ो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sentence correctly बनाओ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True/False सही निकालो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72200" y="1371600"/>
            <a:ext cx="5257800" cy="2148840"/>
          </a:xfrm>
          <a:prstGeom prst="roundRect">
            <a:avLst>
              <a:gd name="adj" fmla="val 2979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0" y="148132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0" y="1984248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 ||   !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0" y="2551176"/>
            <a:ext cx="4800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5257800" cy="2148840"/>
          </a:xfrm>
          <a:prstGeom prst="roundRect">
            <a:avLst>
              <a:gd name="adj" fmla="val 2979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39502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" y="4453128"/>
            <a:ext cx="4800600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किसी operator की family तुरंत पहचानो।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2200" y="3840480"/>
            <a:ext cx="5257800" cy="2148840"/>
          </a:xfrm>
          <a:prstGeom prst="roundRect">
            <a:avLst>
              <a:gd name="adj" fmla="val 2979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0" y="39502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TERMINOLOGY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0" y="4453128"/>
            <a:ext cx="4800600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 technically accurate definition + 1 correct example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29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ONE-PAGE IMPROVEMENT MASTER SHEET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11480" y="114300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76072" y="125272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COMPARISON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76072" y="170992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greater than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less than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 greater/equal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 less/equal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Rule: "Is A ... B?"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251960" y="114300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FDECEA"/>
          </a:solidFill>
          <a:ln w="19050">
            <a:solidFill>
              <a:srgbClr val="D32F2F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416552" y="125272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LOGICAL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16552" y="170992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= ALL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 = ANY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 = NOT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092440" y="114300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57032" y="125272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OPERATOR FAMILIES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57032" y="170992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Assignment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- * / % Arithmetic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&lt; &gt;= &lt;= Comparison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|| ! Logical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11480" y="370332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76072" y="381304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TECHNICAL DEFINITION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76072" y="427024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CONCEPT → Definition → Example → My Explanation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251960" y="370332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416552" y="381304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ERROR FORMULA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416552" y="427024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Mistake → Why? → Correct Rule → New Example → Retest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092440" y="370332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FFF8E1"/>
          </a:solidFill>
          <a:ln w="19050">
            <a:solidFill>
              <a:srgbClr val="F9A825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57032" y="381304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MASTERY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57032" y="427024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Understand → Practice → Recall → Correct → Repeat → Automatic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revision poster — Source: Section 30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GOLDEN RULE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097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964485" y="136017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48590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4859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964485" y="174879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187452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18745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964485" y="213741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226314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22631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964485" y="252603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731520" y="265176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2651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MISTAKES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964485" y="291465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" y="304038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77240" y="30403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LOG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964485" y="330327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342900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34290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ERROR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964485" y="369189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4" name="Shape 22"/>
          <p:cNvSpPr/>
          <p:nvPr/>
        </p:nvSpPr>
        <p:spPr>
          <a:xfrm>
            <a:off x="731520" y="381762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77240" y="38176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964485" y="408051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520" y="420624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77240" y="42062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RETEST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2964485" y="446913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30" name="Shape 28"/>
          <p:cNvSpPr/>
          <p:nvPr/>
        </p:nvSpPr>
        <p:spPr>
          <a:xfrm>
            <a:off x="731520" y="459486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77240" y="45948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RECALL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964485" y="485775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33" name="Shape 31"/>
          <p:cNvSpPr/>
          <p:nvPr/>
        </p:nvSpPr>
        <p:spPr>
          <a:xfrm>
            <a:off x="731520" y="498348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7724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PRACTICE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964485" y="524637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36" name="Shape 34"/>
          <p:cNvSpPr/>
          <p:nvPr/>
        </p:nvSpPr>
        <p:spPr>
          <a:xfrm>
            <a:off x="731520" y="537210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777240" y="53721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2964485" y="563499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39" name="Shape 37"/>
          <p:cNvSpPr/>
          <p:nvPr/>
        </p:nvSpPr>
        <p:spPr>
          <a:xfrm>
            <a:off x="731520" y="576072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77240" y="5760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406640" y="1143000"/>
            <a:ext cx="4297680" cy="3200400"/>
          </a:xfrm>
          <a:prstGeom prst="roundRect">
            <a:avLst>
              <a:gd name="adj" fmla="val 2000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7589520" y="1325880"/>
            <a:ext cx="39319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गलती होना problem नहीं है। एक ही गलती को बिना समझे दोबारा करना problem है।</a:t>
            </a:r>
            <a:endParaRPr lang="en-US" sz="1900" dirty="0"/>
          </a:p>
        </p:txBody>
      </p:sp>
      <p:sp>
        <p:nvSpPr>
          <p:cNvPr id="43" name="Shape 41"/>
          <p:cNvSpPr/>
          <p:nvPr/>
        </p:nvSpPr>
        <p:spPr>
          <a:xfrm>
            <a:off x="7406640" y="4572000"/>
            <a:ext cx="4297680" cy="822960"/>
          </a:xfrm>
          <a:prstGeom prst="roundRect">
            <a:avLst>
              <a:gd name="adj" fmla="val 7778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7452360" y="457200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Log = Personal Improvement Database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page of the visual-notes chapter — Source: Section 31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1708</Words>
  <Application>Microsoft Office PowerPoint</Application>
  <PresentationFormat>Widescreen</PresentationFormat>
  <Paragraphs>443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Rupesh Lal Kumar</cp:lastModifiedBy>
  <cp:revision>2</cp:revision>
  <dcterms:created xsi:type="dcterms:W3CDTF">2026-08-25T09:24:15Z</dcterms:created>
  <dcterms:modified xsi:type="dcterms:W3CDTF">2026-08-28T13:40:25Z</dcterms:modified>
</cp:coreProperties>
</file>