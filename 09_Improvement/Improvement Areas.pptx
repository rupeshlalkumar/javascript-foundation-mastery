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628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UNDERSTANDING TO ACCURACY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52360" y="10241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LEARNING CYCLE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52360" y="141732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2445" y="17647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7452360" y="191109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0" y="19110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502445" y="22585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7452360" y="240487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24048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PRACTICE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02445" y="27523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89864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0" y="289864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MAKE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2445" y="32461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52360" y="3392424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339242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IDENTIFY WHY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02445" y="37398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388620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0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02445" y="42336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452360" y="437997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0" y="43799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PRACTICE AGAIN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2445" y="47274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87375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0" y="48737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RECALL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502445" y="5221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52360" y="536752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0" y="53675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AUTOMATIC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10241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PROBLEM AREAS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146304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8640" y="146304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Direction Error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02920" y="233172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233172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Logic Error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2004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Operator Mixing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02920" y="406908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06908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Terminology Error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FOUR IMPROVEMENT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0584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05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AREAS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 Direction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left/right direction sometimes gets reversed.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 Operators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shortcuts: &amp;&amp; = ALL, || = ANY, ! = NOT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Categories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681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!= !== 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5248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sometimes get mixed.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 Technical Terminology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4681728"/>
            <a:ext cx="480060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is understood, but technical definitions can sometimes be inaccurate.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   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044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56616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 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12648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&gt;=   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73252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&lt;=   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2148840"/>
            <a:ext cx="10332720" cy="548640"/>
          </a:xfrm>
          <a:prstGeom prst="roundRect">
            <a:avLst>
              <a:gd name="adj" fmla="val 1166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148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PROBLEM:  Left / Right Direction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127248" y="2971800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29718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000293" y="350215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7248" y="3666744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72968" y="3666744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greater than B?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00293" y="41970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27248" y="4361688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72968" y="4361688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&gt; 5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000293" y="48920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127248" y="5056632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5056632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 greater than 5?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00293" y="55869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127248" y="5751576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72968" y="5751576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Teach: convert every comparison into a sentence, not a visual symbol read. — Sections 2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OPERATORS: CORE RULE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9584" y="180594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77640" y="137160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B.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69748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 B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29584" y="313182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0" y="269748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77640" y="269748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B.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02336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&gt;= 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529584" y="445770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31920" y="402336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402336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or equal to B.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&lt;= B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529584" y="578358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21" name="Shape 19"/>
          <p:cNvSpPr/>
          <p:nvPr/>
        </p:nvSpPr>
        <p:spPr>
          <a:xfrm>
            <a:off x="3931920" y="534924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77640" y="53492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or equal to B.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NOTES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12848" y="1188720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58568" y="1188720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Comparison Operators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00293" y="163677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1792224"/>
            <a:ext cx="77724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58568" y="179222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Always read the expression as a sentence.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23317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212848" y="2487168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58568" y="2487168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 8 &gt; 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212848" y="3090672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58568" y="3090672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Is 8 greater than 5?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00293" y="3538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212848" y="3694176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258568" y="369417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10515600" cy="1508760"/>
          </a:xfrm>
          <a:prstGeom prst="roundRect">
            <a:avLst>
              <a:gd name="adj" fmla="val 42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64608"/>
            <a:ext cx="10058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2E"/>
                </a:solidFill>
              </a:rPr>
              <a:t>More Examples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7  →  Is 3 greater than 7?  →  False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&lt;= 4  →  Is 4 less than or equal to 4?  →  True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DRILL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24358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&lt;   &gt;=   &lt;=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2313432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2368296"/>
            <a:ext cx="9875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Sentence Conversion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7919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 →   Is 9 greater than 4?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645920" y="3438144"/>
            <a:ext cx="9784080" cy="96012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3493008"/>
            <a:ext cx="9326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Truth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3803904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→  Is 9 greater than 4?  →  True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10698480" cy="64008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RULE:   A &gt; B   →   Is A greater than B?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5166360"/>
            <a:ext cx="10698480" cy="822960"/>
          </a:xfrm>
          <a:prstGeom prst="roundRect">
            <a:avLst>
              <a:gd name="adj" fmla="val 7778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this can be done without thinking, speed does not need to increase.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9728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97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436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2423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865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5852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34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294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863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9281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5 — no truth tables or added Boolean concepts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 LOGICAL 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AND operator evaluates to true only when both operands are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ALL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are true.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true नहीं हैं।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 LOGICAL 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OR operator evaluates to true when at least one operand is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ANY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 least one true है।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कोई भी true नहीं है।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7007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745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745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5146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5146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NOT operator negates a Boolean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467405" y="30723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461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461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NOT / Reverse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146304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1463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195206" y="237744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74320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2668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794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!false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195206" y="470916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0" y="507492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26680" y="50749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WORKING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8872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51960" y="118872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 (&amp;&amp;)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5681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Definition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06240" y="1956816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56816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true only when both operands are true.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724912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2491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6240" y="2724912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1960" y="2724912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493008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4930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493008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51960" y="3493008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261104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6110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06240" y="4261104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51960" y="4261104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Explanation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06240" y="502920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51960" y="502920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true.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 — Source: Section 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727448" y="118872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773168" y="11887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099048" y="1783080"/>
            <a:ext cx="162763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099048" y="1783080"/>
            <a:ext cx="446227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only — operators are added on later slides. Source: Sections 10–14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OPERATOR FAMILIES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37744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63240" y="1188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188720"/>
            <a:ext cx="402336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1887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017520" y="1691640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63240" y="169164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16916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/ ASSIGN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15768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15768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63240" y="2715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-  *  /  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0" y="2715768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39896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73989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017520" y="3739896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063240" y="3739896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60920" y="37398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764024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764024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3017520" y="4764024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063240" y="4764024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7315200" y="4764024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60920" y="47640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11–14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64408" y="2194560"/>
            <a:ext cx="566928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10128" y="219456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00293" y="28803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264408" y="3063240"/>
            <a:ext cx="5669280" cy="6400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10128" y="30632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37033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3886200"/>
            <a:ext cx="566928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0128" y="38862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age = 20;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0293" y="44348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4617720"/>
            <a:ext cx="56692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10128" y="4617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STORE / ASSIGN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94560" y="1965960"/>
            <a:ext cx="7772400" cy="822960"/>
          </a:xfrm>
          <a:prstGeom prst="roundRect">
            <a:avLst>
              <a:gd name="adj" fmla="val 777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40280" y="1965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−   ×   ÷   %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75604" y="288036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270248" y="320040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32004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+ 2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7180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5 - 2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* 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41832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5 %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96596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75604" y="283464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3154680"/>
            <a:ext cx="329184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31546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 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6364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=== 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86968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!== "5"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108960" y="2331720"/>
            <a:ext cx="5943600" cy="868680"/>
          </a:xfrm>
          <a:prstGeom prst="roundRect">
            <a:avLst>
              <a:gd name="adj" fmla="val 736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154680" y="23317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 ||    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55030" y="3337560"/>
            <a:ext cx="288036" cy="32004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703320"/>
            <a:ext cx="6400800" cy="685800"/>
          </a:xfrm>
          <a:prstGeom prst="roundRect">
            <a:avLst>
              <a:gd name="adj" fmla="val 933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3703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FAMILY NOTEBOOK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441448" y="1188720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487168" y="11887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00293" y="17556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441448" y="1938528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87168" y="1938528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Family पहचानो।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5054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441448" y="2688336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688336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Technical meaning बताओ।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000293" y="32552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441448" y="3438144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87168" y="3438144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Example दो।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40050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441448" y="4187952"/>
            <a:ext cx="7315200" cy="59436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41879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Operator-mixing problem gradually decreases.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TECHNICAL TERMINOLOGY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 concept ≠ accurately stating its technical definition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912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Example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5528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 Explanation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70048" y="301752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15768" y="301752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Technical Definition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00293" y="36347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70048" y="384048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384048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Simple Explanation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00293" y="44577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2670048" y="466344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15768" y="46634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Example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and simple understanding are connected. Source: Sections 16–18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SHOW → EXPLAIN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x = 10;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81812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के अंदर 10 store करना।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→ EXAMPLE → PERSONAL EXPLANATION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441448" y="1371600"/>
            <a:ext cx="731520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87168" y="1371600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operator returns true only when both operands are truthy.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00293" y="20482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2221992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2221992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00293" y="27157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2441448" y="2889504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7168" y="2889504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true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00293" y="33832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2441448" y="3557016"/>
            <a:ext cx="731520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87168" y="35570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दोनों conditions pass होनी चाहिए।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234440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23444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! operator negates a Boolean value.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1685" y="1819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933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9933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1685" y="24871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66090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660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false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1685" y="31546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328416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3284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को उल्टा करके false करता है।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80960" y="2286000"/>
            <a:ext cx="1920240" cy="777240"/>
          </a:xfrm>
          <a:prstGeom prst="roundRect">
            <a:avLst>
              <a:gd name="adj" fmla="val 8235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22860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46920" y="2555748"/>
            <a:ext cx="365760" cy="22860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0" y="22860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04120" y="228600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38328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3832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915400" y="3108960"/>
            <a:ext cx="219456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NOTES TEMPLATE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Meaning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Mental Shortcut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Syntax / Operator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0292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6364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Why?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Common Mistake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08076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My Explanation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6364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8076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One Recall Question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6364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study template — Source: Section 19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LOG: THE MOST IMPORTANT PART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35885" y="166420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1965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196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35885" y="22951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5059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Rule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35885" y="29260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08152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815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Example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35885" y="355701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1246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1246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52160" y="114300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43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1430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11430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709928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17099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1709928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709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2276856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9788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49640" y="2276856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95360" y="227685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52160" y="2843784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97880" y="28437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 WRONG?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49640" y="2843784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95360" y="28437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reversed the comparison direction.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852160" y="3410712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97880" y="34107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CONCEPT: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49640" y="3410712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4107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5 greater than 8?"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852160" y="39776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3977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549640" y="39776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9536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every comparison into a sentence.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35885" y="17099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6537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6537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NOTES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3588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96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PAGE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735885" y="29718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2724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272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735885" y="360273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5818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58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06440" y="1234440"/>
            <a:ext cx="5806440" cy="4480560"/>
          </a:xfrm>
          <a:prstGeom prst="roundRect">
            <a:avLst>
              <a:gd name="adj" fmla="val 142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41732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Questions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&gt;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&lt;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&gt;=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does &lt;=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 I avoid direction mistakes?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LEVELS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9786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0424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Logical operator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75688"/>
            <a:ext cx="10497312" cy="841248"/>
          </a:xfrm>
          <a:prstGeom prst="roundRect">
            <a:avLst>
              <a:gd name="adj" fmla="val 7609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61288" y="2130552"/>
            <a:ext cx="10040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441448"/>
            <a:ext cx="10040112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AND / 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16736" y="3008376"/>
            <a:ext cx="10113264" cy="841248"/>
          </a:xfrm>
          <a:prstGeom prst="roundRect">
            <a:avLst>
              <a:gd name="adj" fmla="val 7609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45336" y="3063240"/>
            <a:ext cx="96560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Application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45336" y="3374136"/>
            <a:ext cx="9656064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  →  false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00784" y="3941064"/>
            <a:ext cx="9729216" cy="841248"/>
          </a:xfrm>
          <a:prstGeom prst="roundRect">
            <a:avLst>
              <a:gd name="adj" fmla="val 7609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9384" y="3995928"/>
            <a:ext cx="9272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9384" y="4306824"/>
            <a:ext cx="927201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answer false?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084832" y="4873752"/>
            <a:ext cx="9345168" cy="841248"/>
          </a:xfrm>
          <a:prstGeom prst="roundRect">
            <a:avLst>
              <a:gd name="adj" fmla="val 760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13432" y="4928616"/>
            <a:ext cx="8887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Technical Definition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13432" y="5239512"/>
            <a:ext cx="88879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&amp;&amp; operator technically.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What family does = belong 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does &amp;&amp; mean?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Is 7 &gt; 10 true or false?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What does ! 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What is the difference between != and !==?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Give a technical definition of ===.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What family does !== belong to?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7220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Evaluate: true ||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544068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690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SWITCHING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appear only where present in the source. Source: Section 24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0" y="105156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069080" y="10515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3834" y="1627632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355848" y="1920240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1568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395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355848" y="2551176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01568" y="255117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but correct.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55848" y="3090672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01568" y="309067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35661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55848" y="3721608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372160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correct.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00293" y="4105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4261104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01568" y="42611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000293" y="47365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55848" y="4892040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01568" y="4892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questions में भी correct.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83834" y="5257800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108960" y="5577840"/>
            <a:ext cx="5943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154680" y="5577840"/>
            <a:ext cx="5852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recognize it correctly without hesitation."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30-MINUTE IMPROVEMENT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26280" y="288036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0" y="28803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26280" y="1143000"/>
            <a:ext cx="31089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636008" y="1143000"/>
            <a:ext cx="28895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Recall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कल के concepts बिना notes देखे।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3932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Targeted Practice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केवल एक weak area।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932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Technical Definition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concepts की one-line definitions।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Error Log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की mistakes।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Retest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 गलत questions फिर से।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4892040"/>
            <a:ext cx="55778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48920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rotation, not a strict order — repeated daily.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IMPROVEMENT 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574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574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9476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4068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D32F2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4068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Terminology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7804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7804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8239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5F6368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8696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239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Retest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5156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9A825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613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5156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5613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97280" y="50749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area has more errors, increase its practice volume next week.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476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364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41080" y="12344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78308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79476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1783080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404872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4048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79476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641080" y="2404872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0" y="240487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Improving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26664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02666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79476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21792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41080" y="3026664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86800" y="302666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648456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5800" y="36484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79476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621792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6364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41080" y="3648456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0" y="36484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Weak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58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&lt; 80%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3832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4290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80–89%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722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90–94%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9154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95%+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8424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 सही पढ़ो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sentence correctly बनाओ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True/False सही निकालो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1984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||   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2551176"/>
            <a:ext cx="4800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किसी operator की family तुरंत पहचानो।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technically accurate definition + 1 correct example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IMPROVEMENT MASTER SHEET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7607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greater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less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greater/equal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less/equal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"Is A ... B?"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655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1655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= ALL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 = ANY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=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5703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5703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Assignment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- * / % Arithmetic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Comparison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|| ! Logical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607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DEFINITION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7607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CONCEPT → Definition → Example → My Explanation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5196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ERROR FORMULA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1655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Mistake → Why? → Correct Rule → New Example → Retest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9244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5703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MASTERY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5703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→ Practice → Recall → Correct → Repeat → Automatic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revision poster — Source: Section 30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64485" y="13601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859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59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64485" y="17487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64485" y="21374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631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2631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64485" y="25260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6517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MISTAKES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64485" y="29146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0403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0403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64485" y="33032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ERROR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64485" y="36918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8176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38176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64485" y="40805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42062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964485" y="44691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5948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5948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64485" y="48577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9834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64485" y="52463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3721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721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64485" y="56349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7607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06640" y="114300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89520" y="132588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गलती होना problem नहीं है। एक ही गलती को बिना समझे दोबारा करना problem है।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7406640" y="4572000"/>
            <a:ext cx="4297680" cy="822960"/>
          </a:xfrm>
          <a:prstGeom prst="roundRect">
            <a:avLst>
              <a:gd name="adj" fmla="val 7778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52360" y="45720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 = Personal Improvement Database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of the visual-notes chapter — Source: Section 31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1708</Words>
  <Application>Microsoft Office PowerPoint</Application>
  <PresentationFormat>Widescreen</PresentationFormat>
  <Paragraphs>443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Rupesh Lal Kumar</cp:lastModifiedBy>
  <cp:revision>2</cp:revision>
  <dcterms:created xsi:type="dcterms:W3CDTF">2026-08-25T09:24:15Z</dcterms:created>
  <dcterms:modified xsi:type="dcterms:W3CDTF">2026-09-16T02:15:36Z</dcterms:modified>
</cp:coreProperties>
</file>