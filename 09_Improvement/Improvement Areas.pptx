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34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9628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UNDERSTANDING TO ACCURACY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52360" y="102412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IMPROVEMENT LEARNING CYCLE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52360" y="141732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0" y="14173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UNDERSTAND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502445" y="17647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7452360" y="191109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0" y="191109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WRITE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502445" y="22585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7452360" y="240487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0" y="240487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PRACTICE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02445" y="27523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289864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0" y="289864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MAKE MISTAKES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502445" y="32461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452360" y="3392424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339242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IDENTIFY WHY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502445" y="37398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7452360" y="388620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0" y="388620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502445" y="42336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452360" y="437997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0" y="437997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PRACTICE AGAIN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502445" y="47274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487375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98080" y="487375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RECALL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502445" y="5221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8" name="Shape 26"/>
          <p:cNvSpPr/>
          <p:nvPr/>
        </p:nvSpPr>
        <p:spPr>
          <a:xfrm>
            <a:off x="7452360" y="536752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0" y="536752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AUTOMATIC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2920" y="102412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PROBLEM AREAS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2920" y="146304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48640" y="146304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Direction Error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02920" y="233172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48640" y="233172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Logic Error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8640" y="320040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Operator Mixing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02920" y="406908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48640" y="406908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Terminology Error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FOUR IMPROVEMENT AREAS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05840"/>
            <a:ext cx="365760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058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AREAS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 Direction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left/right direction sometimes gets reversed.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 Operators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shortcuts: &amp;&amp; = ALL, || = ANY, ! = NOT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Categories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4681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!= !== =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5248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sometimes get mixed.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17220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Exact Technical Terminology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4681728"/>
            <a:ext cx="480060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is understood, but technical definitions can sometimes be inaccurate.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   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044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56616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   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12648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7220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&gt;=   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73252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7824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&lt;=   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14400" y="2148840"/>
            <a:ext cx="10332720" cy="548640"/>
          </a:xfrm>
          <a:prstGeom prst="roundRect">
            <a:avLst>
              <a:gd name="adj" fmla="val 1166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214884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PROBLEM:  Left / Right Direction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127248" y="2971800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72968" y="297180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000293" y="350215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3127248" y="3666744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72968" y="3666744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greater than B?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000293" y="41970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3127248" y="4361688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72968" y="4361688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&gt; 5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000293" y="48920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3127248" y="5056632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72968" y="5056632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 greater than 5?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000293" y="55869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3127248" y="5751576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72968" y="5751576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Teach: convert every comparison into a sentence, not a visual symbol read. — Sections 2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OPERATORS: CORE RULE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37160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9584" y="180594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37160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77640" y="137160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B.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69748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 B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29584" y="313182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1" name="Shape 9"/>
          <p:cNvSpPr/>
          <p:nvPr/>
        </p:nvSpPr>
        <p:spPr>
          <a:xfrm>
            <a:off x="3931920" y="269748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977640" y="269748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B.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402336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02336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&gt;= B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3529584" y="445770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6" name="Shape 14"/>
          <p:cNvSpPr/>
          <p:nvPr/>
        </p:nvSpPr>
        <p:spPr>
          <a:xfrm>
            <a:off x="3931920" y="402336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77640" y="402336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or equal to B.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534924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34924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&lt;= B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3529584" y="578358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21" name="Shape 19"/>
          <p:cNvSpPr/>
          <p:nvPr/>
        </p:nvSpPr>
        <p:spPr>
          <a:xfrm>
            <a:off x="3931920" y="534924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977640" y="53492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or equal to B.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NOTES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212848" y="1188720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58568" y="1188720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Comparison Operators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000293" y="163677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212848" y="1792224"/>
            <a:ext cx="77724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58568" y="1792224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Always read the expression as a sentence.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23317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212848" y="2487168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58568" y="2487168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EXAMPLE:  8 &gt; 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212848" y="3090672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58568" y="3090672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Is 8 greater than 5?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00293" y="3538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212848" y="3694176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258568" y="369417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2960" y="4754880"/>
            <a:ext cx="10515600" cy="1508760"/>
          </a:xfrm>
          <a:prstGeom prst="roundRect">
            <a:avLst>
              <a:gd name="adj" fmla="val 42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4864608"/>
            <a:ext cx="100584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1A2E"/>
                </a:solidFill>
              </a:rPr>
              <a:t>More Examples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&gt; 7  →  Is 3 greater than 7?  →  False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&lt;= 4  →  Is 4 less than or equal to 4?  →  True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DRILL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24358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—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&lt;   &gt;=   &lt;=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097280" y="2313432"/>
            <a:ext cx="10332720" cy="960120"/>
          </a:xfrm>
          <a:prstGeom prst="roundRect">
            <a:avLst>
              <a:gd name="adj" fmla="val 666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25880" y="2368296"/>
            <a:ext cx="9875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— Sentence Conversion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267919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 →   Is 9 greater than 4?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645920" y="3438144"/>
            <a:ext cx="9784080" cy="96012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74520" y="3493008"/>
            <a:ext cx="9326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— Truth Evaluation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74520" y="3803904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→  Is 9 greater than 4?  →  True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434840"/>
            <a:ext cx="10698480" cy="64008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4348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RULE:   A &gt; B   →   Is A greater than B?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5166360"/>
            <a:ext cx="10698480" cy="822960"/>
          </a:xfrm>
          <a:prstGeom prst="roundRect">
            <a:avLst>
              <a:gd name="adj" fmla="val 7778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516636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this can be done without thinking, speed does not need to increase.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9728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9728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436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2423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865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34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5852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34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294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863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9281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818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863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5 — no truth tables or added Boolean concepts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&amp;&amp;  LOGICAL AND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AND operator evaluates to true only when both operands are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ALL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are true.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All true नहीं हैं।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  LOGICAL OR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OR operator evaluates to true when at least one operand is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ANY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 least one true है।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कोई भी true नहीं है।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7007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745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745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5146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5146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NOT operator negates a Boolean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467405" y="30723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461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461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NOT / Reverse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680960" y="146304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14630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9195206" y="237744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0" y="274320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26680" y="2743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79476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794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!false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195206" y="470916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0" y="507492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26680" y="50749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 — WORKING NOTES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18872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18872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06240" y="118872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51960" y="118872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 (&amp;&amp;)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1956816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956816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Definition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06240" y="1956816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1956816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true only when both operands are true.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2724912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724912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06240" y="2724912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51960" y="2724912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493008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49300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493008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51960" y="3493008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" y="4261104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426110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06240" y="4261104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251960" y="4261104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2960" y="502920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Explanation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206240" y="502920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251960" y="502920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conditions must be true.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 — Source: Section 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727448" y="118872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773168" y="11887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099048" y="1783080"/>
            <a:ext cx="162763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099048" y="1783080"/>
            <a:ext cx="446227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32688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structure only — operators are added on later slides. Source: Sections 10–14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OPERATOR FAMILIES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37744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17520" y="1188720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063240" y="118872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0" y="1188720"/>
            <a:ext cx="402336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60920" y="118872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017520" y="1691640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063240" y="169164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0" y="1691640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60920" y="16916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/ ASSIGN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2715768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2715768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3017520" y="2715768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063240" y="2715768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-  *  /  %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315200" y="2715768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60920" y="271576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39896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3739896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3017520" y="3739896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063240" y="3739896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7315200" y="3739896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60920" y="373989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8640" y="4764024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94360" y="4764024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3017520" y="4764024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063240" y="4764024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7315200" y="4764024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60920" y="4764024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11–14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64408" y="2194560"/>
            <a:ext cx="566928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310128" y="219456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000293" y="28803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264408" y="3063240"/>
            <a:ext cx="5669280" cy="6400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10128" y="306324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37033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3886200"/>
            <a:ext cx="566928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10128" y="388620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age = 20;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00293" y="44348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4408" y="4617720"/>
            <a:ext cx="56692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310128" y="461772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STORE / ASSIGN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194560" y="1965960"/>
            <a:ext cx="7772400" cy="822960"/>
          </a:xfrm>
          <a:prstGeom prst="roundRect">
            <a:avLst>
              <a:gd name="adj" fmla="val 777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40280" y="1965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−   ×   ÷   %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975604" y="288036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270248" y="320040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15968" y="320040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+ 2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97180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1752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5 - 2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2064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6636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* 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26948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41832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6404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5 % 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51560" y="1965960"/>
            <a:ext cx="10058400" cy="777240"/>
          </a:xfrm>
          <a:prstGeom prst="roundRect">
            <a:avLst>
              <a:gd name="adj" fmla="val 8235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9659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75604" y="283464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480560" y="3154680"/>
            <a:ext cx="329184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26280" y="31546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5156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&gt; 3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0332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 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6364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=== 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86968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1540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!== "5"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108960" y="2331720"/>
            <a:ext cx="5943600" cy="868680"/>
          </a:xfrm>
          <a:prstGeom prst="roundRect">
            <a:avLst>
              <a:gd name="adj" fmla="val 736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154680" y="233172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 ||    !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955030" y="3337560"/>
            <a:ext cx="288036" cy="32004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880360" y="3703320"/>
            <a:ext cx="6400800" cy="685800"/>
          </a:xfrm>
          <a:prstGeom prst="roundRect">
            <a:avLst>
              <a:gd name="adj" fmla="val 933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3703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FAMILY NOTEBOOK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441448" y="1188720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487168" y="118872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 OPERATOR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000293" y="17556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441448" y="1938528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87168" y="1938528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Family पहचानो।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5054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441448" y="2688336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87168" y="2688336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Technical meaning बताओ।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000293" y="32552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441448" y="3438144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87168" y="3438144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Example दो।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40050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441448" y="4187952"/>
            <a:ext cx="7315200" cy="59436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87168" y="41879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Operator-mixing problem gradually decreases.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TECHNICAL TERMINOLOGY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 concept ≠ accurately stating its technical definition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8912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3484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Example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95528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0100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My Explanation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670048" y="301752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15768" y="301752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1: Technical Definition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000293" y="36347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70048" y="384048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15768" y="384048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2: Simple Explanation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000293" y="44577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2670048" y="466344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15768" y="466344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3: Example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accuracy and simple understanding are connected. Source: Sections 16–18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→ SHOW → EXPLAIN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5196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25196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x = 10;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1812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86384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81812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के अंदर 10 store करना।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→ EXAMPLE → PERSONAL EXPLANATION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441448" y="1371600"/>
            <a:ext cx="731520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487168" y="1371600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&amp;&amp; operator returns true only when both operands are truthy.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00293" y="20482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2441448" y="2221992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87168" y="2221992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00293" y="27157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2441448" y="2889504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87168" y="2889504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true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00293" y="33832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2441448" y="3557016"/>
            <a:ext cx="731520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87168" y="3557016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दोनों conditions pass होनी चाहिए।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234440"/>
            <a:ext cx="484632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23444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! operator negates a Boolean value.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421685" y="1819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93392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99339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1685" y="24871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660904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66090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false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421685" y="31546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328416"/>
            <a:ext cx="484632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328416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को उल्टा करके false करता है।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680960" y="2286000"/>
            <a:ext cx="1920240" cy="777240"/>
          </a:xfrm>
          <a:prstGeom prst="roundRect">
            <a:avLst>
              <a:gd name="adj" fmla="val 8235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22860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46920" y="2555748"/>
            <a:ext cx="365760" cy="22860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0" y="228600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04120" y="2286000"/>
            <a:ext cx="548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38328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3832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915400" y="3108960"/>
            <a:ext cx="219456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NOTES TEMPLATE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0292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Simple Meaning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0292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Mental Shortcut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0292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Syntax / Operator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0292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8076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6364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Result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6364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8076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6364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Why?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6364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08076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Common Mistake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6364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08076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26364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My Explanation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6364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08076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6364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One Recall Question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6364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study template — Source: Section 19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LOG: THE MOST IMPORTANT PART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18872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35885" y="166420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1965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1965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35885" y="22951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5059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505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Rule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735885" y="29260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08152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0815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Example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735885" y="355701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1246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1246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852160" y="114300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430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9640" y="114300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95360" y="11430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&gt; 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52160" y="1709928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97880" y="170992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549640" y="1709928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95360" y="1709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2276856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9788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549640" y="2276856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95360" y="227685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852160" y="2843784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97880" y="284378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I WRONG?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549640" y="2843784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95360" y="28437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reversed the comparison direction.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852160" y="3410712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897880" y="341071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CONCEPT: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549640" y="3410712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595360" y="34107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"Is 5 greater than 8?"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852160" y="39776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897880" y="3977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549640" y="397764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59536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every comparison into a sentence.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 METHOD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35885" y="17099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6537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6537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NOTES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3588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9631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9631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PAGE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735885" y="29718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12724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12724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735885" y="360273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5818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5818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06440" y="1234440"/>
            <a:ext cx="5806440" cy="4480560"/>
          </a:xfrm>
          <a:prstGeom prst="roundRect">
            <a:avLst>
              <a:gd name="adj" fmla="val 142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141732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Questions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does &gt;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does &lt;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&gt;=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does &lt;=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How do I avoid direction mistakes?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LEVELS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19786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08760"/>
            <a:ext cx="10424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Logical operator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075688"/>
            <a:ext cx="10497312" cy="841248"/>
          </a:xfrm>
          <a:prstGeom prst="roundRect">
            <a:avLst>
              <a:gd name="adj" fmla="val 7609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61288" y="2130552"/>
            <a:ext cx="10040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2: Meaning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61288" y="2441448"/>
            <a:ext cx="10040112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AND / ALL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16736" y="3008376"/>
            <a:ext cx="10113264" cy="841248"/>
          </a:xfrm>
          <a:prstGeom prst="roundRect">
            <a:avLst>
              <a:gd name="adj" fmla="val 7609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45336" y="3063240"/>
            <a:ext cx="96560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3: Application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45336" y="3374136"/>
            <a:ext cx="9656064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  →  false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700784" y="3941064"/>
            <a:ext cx="9729216" cy="841248"/>
          </a:xfrm>
          <a:prstGeom prst="roundRect">
            <a:avLst>
              <a:gd name="adj" fmla="val 7609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29384" y="3995928"/>
            <a:ext cx="9272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4: Explanation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29384" y="4306824"/>
            <a:ext cx="927201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answer false?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084832" y="4873752"/>
            <a:ext cx="9345168" cy="841248"/>
          </a:xfrm>
          <a:prstGeom prst="roundRect">
            <a:avLst>
              <a:gd name="adj" fmla="val 760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313432" y="4928616"/>
            <a:ext cx="8887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5: Technical Definition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13432" y="5239512"/>
            <a:ext cx="888796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&amp;&amp; operator technically.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What family does = belong to?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What does &amp;&amp; mean?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Is 7 &gt; 10 true or false?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What does ! do?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What is the difference between != and !==?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220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Q6. Give a technical definition of ===.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Q7. What family does !== belong to?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7220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Q8. Evaluate: true ||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023360" y="544068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0690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SWITCHING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appear only where present in the source. Source: Section 24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 TRAINING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23360" y="105156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069080" y="10515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understand it."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3834" y="1627632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355848" y="1920240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1568" y="19202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395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355848" y="2551176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01568" y="2551176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but correct.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55848" y="3090672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01568" y="3090672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35661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3355848" y="3721608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01568" y="372160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correct.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00293" y="4105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3355848" y="4261104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01568" y="426110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000293" y="47365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3355848" y="4892040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01568" y="4892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questions में भी correct.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983834" y="5257800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3108960" y="5577840"/>
            <a:ext cx="5943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154680" y="5577840"/>
            <a:ext cx="5852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recognize it correctly without hesitation."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30-MINUTE IMPROVEMENT SYSTEM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26280" y="288036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0" y="28803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26280" y="1143000"/>
            <a:ext cx="31089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636008" y="1143000"/>
            <a:ext cx="28895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Recall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कल के concepts बिना notes देखे।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3932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— Targeted Practice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केवल एक weak area।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3932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Technical Definition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concepts की one-line definitions।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120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Error Log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की mistakes।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Retest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 गलत questions फिर से।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91840" y="4892040"/>
            <a:ext cx="55778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37560" y="48920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steady rotation, not a strict order — repeated daily.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IMPROVEMENT CYCLE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0574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031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574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74904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9476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74904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9476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4068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D32F2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4068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Terminology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13232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7804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13232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7804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8239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5F6368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8696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239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8696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Retest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05156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9A825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613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05156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5613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1097280" y="50749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43000" y="5074920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area has more errors, increase its practice volume next week.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TRACKING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344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9476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6364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41080" y="12344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0" y="12344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1783080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78308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79476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048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641080" y="1783080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404872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404872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79476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4048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1792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6364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641080" y="2404872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0" y="2404872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Improving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3026664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" y="3026664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79476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84048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21792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6364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641080" y="3026664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686800" y="3026664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648456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85800" y="3648456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79476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384048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621792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26364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75%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641080" y="3648456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686800" y="3648456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Weak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858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&lt; 80%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3832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4290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80–89%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1264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1722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90–94%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9154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95%+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Mastered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98424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direction सही पढ़ो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sentence correctly बनाओ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True/False सही निकालो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0" y="198424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||   !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2551176"/>
            <a:ext cx="4800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किसी operator की family तुरंत पहचानो।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technically accurate definition + 1 correct example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IMPROVEMENT MASTER SHEET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7607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7607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greater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less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 greater/equal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less/equal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Rule: "Is A ... B?"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5196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1655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1655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= ALL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 = ANY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= NOT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244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5703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FAMILIES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5703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Assignment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- * / % Arithmetic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Comparison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|| ! Logical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607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TECHNICAL DEFINITION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7607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CONCEPT → Definition → Example → My Explanation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25196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1655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ERROR FORMULA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1655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Mistake → Why? → Correct Rule → New Example → Retest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9244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5703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MASTERY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5703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 → Practice → Recall → Correct → Repeat → Automatic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revision poster — Source: Section 30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964485" y="13601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859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4859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64485" y="17487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8745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64485" y="21374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2631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2631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64485" y="25260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6517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MISTAKES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64485" y="29146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0403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30403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964485" y="33032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4290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429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ERROR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964485" y="36918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8176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38176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64485" y="40805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42062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964485" y="44691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45948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77240" y="45948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964485" y="48577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3" name="Shape 31"/>
          <p:cNvSpPr/>
          <p:nvPr/>
        </p:nvSpPr>
        <p:spPr>
          <a:xfrm>
            <a:off x="731520" y="49834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7724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964485" y="52463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53721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77240" y="53721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964485" y="56349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9" name="Shape 37"/>
          <p:cNvSpPr/>
          <p:nvPr/>
        </p:nvSpPr>
        <p:spPr>
          <a:xfrm>
            <a:off x="731520" y="57607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77240" y="5760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06640" y="114300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589520" y="1325880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गलती होना problem नहीं है। एक ही गलती को बिना समझे दोबारा करना problem है।</a:t>
            </a:r>
            <a:endParaRPr lang="en-US" sz="1900" dirty="0"/>
          </a:p>
        </p:txBody>
      </p:sp>
      <p:sp>
        <p:nvSpPr>
          <p:cNvPr id="43" name="Shape 41"/>
          <p:cNvSpPr/>
          <p:nvPr/>
        </p:nvSpPr>
        <p:spPr>
          <a:xfrm>
            <a:off x="7406640" y="4572000"/>
            <a:ext cx="4297680" cy="822960"/>
          </a:xfrm>
          <a:prstGeom prst="roundRect">
            <a:avLst>
              <a:gd name="adj" fmla="val 7778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452360" y="457200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 = Personal Improvement Database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page of the visual-notes chapter — Source: Section 31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1708</Words>
  <Application>Microsoft Office PowerPoint</Application>
  <PresentationFormat>Widescreen</PresentationFormat>
  <Paragraphs>443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Rupesh Lal Kumar</cp:lastModifiedBy>
  <cp:revision>2</cp:revision>
  <dcterms:created xsi:type="dcterms:W3CDTF">2026-08-25T09:24:15Z</dcterms:created>
  <dcterms:modified xsi:type="dcterms:W3CDTF">2026-08-27T02:04:21Z</dcterms:modified>
</cp:coreProperties>
</file>